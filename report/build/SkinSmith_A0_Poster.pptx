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a3fbddefed42cf" /><Relationship Type="http://schemas.openxmlformats.org/officeDocument/2006/relationships/extended-properties" Target="/docProps/app.xml" Id="R1b36f45a72f34136" /><Relationship Type="http://schemas.openxmlformats.org/officeDocument/2006/relationships/officeDocument" Target="/ppt/presentation.xml" Id="R4ab6218e476047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da74975df24419"/>
  </p:sldMasterIdLst>
  <p:notesMasterIdLst>
    <p:notesMasterId xmlns:r="http://schemas.openxmlformats.org/officeDocument/2006/relationships" r:id="Rcbf110090aca4210"/>
  </p:notesMasterIdLst>
  <p:sldIdLst>
    <p:sldId xmlns:r="http://schemas.openxmlformats.org/officeDocument/2006/relationships" id="256" r:id="R0d254d96c4eb419b"/>
  </p:sldIdLst>
  <p:sldSz cx="42803763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2f18ed1a984565" /><Relationship Type="http://schemas.openxmlformats.org/officeDocument/2006/relationships/slideMaster" Target="/ppt/slideMasters/slideMaster1.xml" Id="Re4da74975df24419" /><Relationship Type="http://schemas.openxmlformats.org/officeDocument/2006/relationships/notesMaster" Target="/ppt/notesMasters/notesMaster1.xml" Id="Rcbf110090aca4210" /><Relationship Type="http://schemas.openxmlformats.org/officeDocument/2006/relationships/presProps" Target="/ppt/presProps.xml" Id="R27b485d27fa346e1" /><Relationship Type="http://schemas.openxmlformats.org/officeDocument/2006/relationships/viewProps" Target="/ppt/viewProps.xml" Id="Rcf16146fcebd4c8c" /><Relationship Type="http://schemas.openxmlformats.org/officeDocument/2006/relationships/tableStyles" Target="/ppt/tableStyles.xml" Id="R8a55a8604f2e4ecd" /><Relationship Type="http://schemas.openxmlformats.org/officeDocument/2006/relationships/slide" Target="/ppt/slides/slide1.xml" Id="R0d254d96c4eb41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a317aac80347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005f32e4894096" /><Relationship Type="http://schemas.openxmlformats.org/officeDocument/2006/relationships/notesMaster" Target="/ppt/notesMasters/notesMaster1.xml" Id="R6d9a789a408a46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a1896478f940f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24a170e08a427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aea72bf2704a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b9e9843eb2486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a66d04f3d84af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e23acafdde453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77a6c9deb4436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7894d5696a43b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6e9f249fdd44a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040180ad2045c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b608416f4241f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87EA4B0-AD2F-41AB-83A7-FA0285CFC1C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BA629AF-7823-4AA3-AD80-37C5F282CC2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4C29CFC-2CCE-4F3B-B4E7-381369B0EE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BE1EA3-38E9-4B39-A230-1FE0468375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FB5182-32C7-4950-B3A1-9AB7158286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388535-90C6-4C5D-B0DE-4485474E7E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6BEEF-4E79-4DCC-9EE6-22CBC86ED7C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DACEDC6-4CB8-451D-AD83-B8B4A3B044C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57212E-8728-48A6-A20C-24E3840271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FA89F56-72F2-4519-B0DF-83F75A1D72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590A54-65B1-431B-B460-CD592D50AD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7DF16EF-F08A-4C59-A54A-16041A667A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C663E1-835C-4657-9022-F1F7F1059A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64DD67-C6CF-4BF3-930A-2ACAB5CBB8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D2156A-A619-49CF-94EE-5B21D51739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3F5413-9F77-4695-931C-37AE756E79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9F20A8-F5C8-4D5C-B38F-D87749CF652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EB5C6AD-ACFD-4547-9491-45791CAA577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D443BBA-9B38-4DC6-A7B1-B427788BD6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A9D9BD7-E3AD-4437-B1FF-144AB60D0A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948FF04-576E-4A89-8D46-8E032F50C9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6F4AB4-B0CF-4A9A-BCED-CA5A9BB533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303120E-BEDF-4702-9CA6-A6FF264E81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0A4730D-823B-46E4-BA50-77F564CDC76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D32E2F3-417C-4A56-BFF4-6530C6D2AB1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D184171-74C4-48DA-80E0-B828DFC8EAF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708F26E-FC14-4B8D-A036-B96D1B681E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1CD4A05-C895-455C-87C7-7BBB7D9E05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04A6B83-0F6A-4274-8EB3-6A61FC26D5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18AF01-4D56-473E-918D-30D1CA83C7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E69403-2679-436F-A52E-10A4FE3429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1B11AF6-9DEF-41F1-BB6F-2DED2AC1CB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FEFB443-7752-4D93-8EF4-96D2EF033A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BCC2997-83C2-4451-9391-777541B93C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8D59122-79E5-4878-935F-DEE1912184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32730EE-76C4-4CE1-AF88-8F3C12A1F8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E6DC78C-7596-49BA-ADFB-4070C62B9C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1D25F9F-8F00-4E49-AE2A-8B90B8E62B7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79C47FF-9594-43D5-811E-B8FE133380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8ABD42A-49A3-4357-A0DC-44A7E52002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5E5EFBE-5CEE-493E-A18C-F35A21F828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A3FE146-A093-4D59-AE07-66A1139EE1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ACEE2C-D46B-4B4C-9E2C-D157AC283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49F04F3-0B73-4F15-8841-8801CCB68D8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A6C1F1C-B113-48C4-BF1F-FB8CBDFAC85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960E9C7-120D-44F7-BE6B-7C24826122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08438AF-DC4A-462E-8EB3-BB95DBF926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634E3BD-2633-437C-8F39-7D44083F5D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31A1B3-A910-43B2-BEA2-207D37DE4D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3FD9A68-685A-477D-9CB4-37CED14DD9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40E059-D2C4-4E8C-8EA4-417FF702DA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5A2CF7-D035-44EA-A834-9A0F5081BE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6C8205-3CE0-4F87-96C5-6354E89951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9E5E5E6-9DD3-43CE-81E1-8AA0692FCF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150C15-F160-498F-84BA-81EF05586A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0EFC96-BA1F-4273-9129-4E04634F0C2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D080F0-D043-4DCD-B9E9-3F2FA84C2D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C48588-E880-4808-B893-9D98C865EC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80633c5d99e4d2b" /><Relationship Type="http://schemas.openxmlformats.org/officeDocument/2006/relationships/slideLayout" Target="/ppt/slideLayouts/slideLayout1.xml" Id="R624f26309dd1484b" /><Relationship Type="http://schemas.openxmlformats.org/officeDocument/2006/relationships/slideLayout" Target="/ppt/slideLayouts/slideLayout2.xml" Id="Rd7ca120a4ae1443d" /><Relationship Type="http://schemas.openxmlformats.org/officeDocument/2006/relationships/slideLayout" Target="/ppt/slideLayouts/slideLayout3.xml" Id="R691d35f10f9a4e32" /><Relationship Type="http://schemas.openxmlformats.org/officeDocument/2006/relationships/slideLayout" Target="/ppt/slideLayouts/slideLayout4.xml" Id="R99e29c983ddb4167" /><Relationship Type="http://schemas.openxmlformats.org/officeDocument/2006/relationships/slideLayout" Target="/ppt/slideLayouts/slideLayout5.xml" Id="Re3bd8c38a01e40b9" /><Relationship Type="http://schemas.openxmlformats.org/officeDocument/2006/relationships/slideLayout" Target="/ppt/slideLayouts/slideLayout6.xml" Id="Rd166958e9e9240a2" /><Relationship Type="http://schemas.openxmlformats.org/officeDocument/2006/relationships/slideLayout" Target="/ppt/slideLayouts/slideLayout7.xml" Id="Rf62ef9106f1e489c" /><Relationship Type="http://schemas.openxmlformats.org/officeDocument/2006/relationships/slideLayout" Target="/ppt/slideLayouts/slideLayout8.xml" Id="R17f23b88ccc946eb" /><Relationship Type="http://schemas.openxmlformats.org/officeDocument/2006/relationships/slideLayout" Target="/ppt/slideLayouts/slideLayout9.xml" Id="R844f077eb605428e" /><Relationship Type="http://schemas.openxmlformats.org/officeDocument/2006/relationships/slideLayout" Target="/ppt/slideLayouts/slideLayout10.xml" Id="R8aab531226664d77" /><Relationship Type="http://schemas.openxmlformats.org/officeDocument/2006/relationships/slideLayout" Target="/ppt/slideLayouts/slideLayout11.xml" Id="R53ad2b61b026402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00546B2-CF21-4CC8-9D97-3A17427004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C23C61-72A6-49EB-AF43-DC5A6A4C32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0A0C15-C3BD-4443-9120-9D4FD9CD850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7/19/2026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AD19EF2-0087-494E-8524-520503A5A5A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10F60F9-ABEB-444B-8591-0CB8E36BF8C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4f26309dd1484b"/>
    <p:sldLayoutId xmlns:r="http://schemas.openxmlformats.org/officeDocument/2006/relationships" id="2147483650" r:id="Rd7ca120a4ae1443d"/>
    <p:sldLayoutId xmlns:r="http://schemas.openxmlformats.org/officeDocument/2006/relationships" id="2147483651" r:id="R691d35f10f9a4e32"/>
    <p:sldLayoutId xmlns:r="http://schemas.openxmlformats.org/officeDocument/2006/relationships" id="2147483652" r:id="R99e29c983ddb4167"/>
    <p:sldLayoutId xmlns:r="http://schemas.openxmlformats.org/officeDocument/2006/relationships" id="2147483653" r:id="Re3bd8c38a01e40b9"/>
    <p:sldLayoutId xmlns:r="http://schemas.openxmlformats.org/officeDocument/2006/relationships" id="2147483654" r:id="Rd166958e9e9240a2"/>
    <p:sldLayoutId xmlns:r="http://schemas.openxmlformats.org/officeDocument/2006/relationships" id="2147483655" r:id="Rf62ef9106f1e489c"/>
    <p:sldLayoutId xmlns:r="http://schemas.openxmlformats.org/officeDocument/2006/relationships" id="2147483656" r:id="R17f23b88ccc946eb"/>
    <p:sldLayoutId xmlns:r="http://schemas.openxmlformats.org/officeDocument/2006/relationships" id="2147483657" r:id="R844f077eb605428e"/>
    <p:sldLayoutId xmlns:r="http://schemas.openxmlformats.org/officeDocument/2006/relationships" id="2147483658" r:id="R8aab531226664d77"/>
    <p:sldLayoutId xmlns:r="http://schemas.openxmlformats.org/officeDocument/2006/relationships" id="2147483659" r:id="R53ad2b61b026402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e43009e4c04b31" /><Relationship Type="http://schemas.openxmlformats.org/officeDocument/2006/relationships/image" Target="/ppt/media/image.png" Id="R63b5c784409e4a19" /><Relationship Type="http://schemas.openxmlformats.org/officeDocument/2006/relationships/image" Target="/ppt/media/image2.png" Id="R8ef1257250ea4a64" /><Relationship Type="http://schemas.openxmlformats.org/officeDocument/2006/relationships/image" Target="/ppt/media/image3.png" Id="R4b47da057c4f4aff" /><Relationship Type="http://schemas.openxmlformats.org/officeDocument/2006/relationships/image" Target="/ppt/media/image4.png" Id="Ra790f982b77247b3" /><Relationship Type="http://schemas.openxmlformats.org/officeDocument/2006/relationships/image" Target="/ppt/media/image5.png" Id="Ra8a7c850022f4878" /><Relationship Type="http://schemas.openxmlformats.org/officeDocument/2006/relationships/image" Target="/ppt/media/image6.png" Id="R3cfe2f0c15a14cc6" /><Relationship Type="http://schemas.openxmlformats.org/officeDocument/2006/relationships/image" Target="/ppt/media/image7.png" Id="R04b1f92693bd421f" /><Relationship Type="http://schemas.openxmlformats.org/officeDocument/2006/relationships/image" Target="/ppt/media/image8.png" Id="Raa85e451cbbe4a7c" /><Relationship Type="http://schemas.openxmlformats.org/officeDocument/2006/relationships/image" Target="/ppt/media/image9.png" Id="R93343d63b0c74758" /><Relationship Type="http://schemas.openxmlformats.org/officeDocument/2006/relationships/image" Target="/ppt/media/image10.png" Id="Rf76e6e3411ab4b22" /><Relationship Type="http://schemas.openxmlformats.org/officeDocument/2006/relationships/image" Target="/ppt/media/image11.png" Id="Ra6724e5f5ed84151" /><Relationship Type="http://schemas.openxmlformats.org/officeDocument/2006/relationships/image" Target="/ppt/media/image12.png" Id="R1252caf4f2a540eb" /><Relationship Type="http://schemas.openxmlformats.org/officeDocument/2006/relationships/image" Target="/ppt/media/image13.png" Id="Rdd20388b42324572" /><Relationship Type="http://schemas.openxmlformats.org/officeDocument/2006/relationships/image" Target="/ppt/media/image14.png" Id="Rda518042f07d44e6" /><Relationship Type="http://schemas.openxmlformats.org/officeDocument/2006/relationships/image" Target="/ppt/media/image15.png" Id="R4b9ab23e245e4870" /><Relationship Type="http://schemas.openxmlformats.org/officeDocument/2006/relationships/notesSlide" Target="/ppt/notesSlides/notesSlide1.xml" Id="Ra61b799f1c1843f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AFD066F-00AC-4A45-8654-810C9865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00" y="-2250000"/>
            <a:ext cx="42804000" cy="302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625F329-63FF-49B7-B144-CF2E5194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00" y="-331176"/>
            <a:ext cx="42299763" cy="727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2F46A2B-187B-4B0D-966D-78F18273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00" y="288000"/>
            <a:ext cx="42479999" cy="2814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3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3FB34A-B1AF-4FA6-9E54-17B8F5AD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216000"/>
            <a:ext cx="9000000" cy="12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4261242-00C9-48AB-81B5-4726698B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000" y="576000"/>
            <a:ext cx="2016000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0093C5-9F63-4535-B338-4D98FF8B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1728000"/>
            <a:ext cx="2880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079E0BC-BD33-452F-81D9-260DE83C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88000" y="360000"/>
            <a:ext cx="1062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A72DDDD-7BE7-4D7F-9D5C-8B7CB5E6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88000" y="1080000"/>
            <a:ext cx="1062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536BCCB-F89F-40BE-A627-CDFA94EA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88000" y="1800000"/>
            <a:ext cx="1062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BC01EE3-50AC-482C-9C7C-79D04A78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3240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 ·  Background &amp; Problem   Why image generation alone is insufficient for mapped textures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C64ABE0-85EB-4378-BCB8-D2127333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3240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9580AFD-8EB6-4EC1-A6EF-D23AF9BF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3852000"/>
            <a:ext cx="13956000" cy="2260875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26000" tIns="90000" rIns="126000" bIns="72000" anchor="t"/>
          <a:lstStyle xmlns:a="http://schemas.openxmlformats.org/drawingml/2006/main"/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0E3B4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Modern text-to-image models (SD-Turbo, Gemini-Image, …) can produce stunning rectangular art — but a game skin is not a rectangle.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0E3B4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2000" b="1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UV fragmentation:  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a 3D surface is unfolded, scaled, and repacked into an atlas, shredding any continuous pattern.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0E3B4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2000" b="1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View inconsistency:  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art that looks great on the left side may collapse from the top.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0E3B4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2000" b="1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Export constraints:  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hard rules on resolution, drawable area, seams, and palette.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0E3B4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Pretty source image ≠ deployable weapon texture.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09185DF-783E-468B-AE7C-0E3B1936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7704000"/>
            <a:ext cx="13956000" cy="1584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C03421A-D7DC-4341-A583-21ED9652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4000" y="6193499"/>
            <a:ext cx="13956000" cy="510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E3B43"/>
                </a:solidFill>
                <a:latin typeface="Calibri"/>
                <a:ea typeface="Calibri"/>
                <a:cs typeface="Calibri"/>
              </a:rPr>
              <a:t>Source art  ·  dragon master artwork generated after CP2 and evaluated at CP3</a:t>
            </a:r>
          </a:p>
        </p:txBody>
      </p:sp>
      <p:pic>
        <p:nvPicPr>
          <p:cNvPr id="169" name="Picture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5c784409e4a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216000" y="6653343"/>
            <a:ext cx="13812000" cy="2605781"/>
          </a:xfrm>
          <a:prstGeom xmlns:a="http://schemas.openxmlformats.org/drawingml/2006/main" prst="rect">
            <a:avLst/>
          </a:prstGeom>
        </p:spPr>
      </p:pic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EB6121C-2992-4952-B422-2B82C770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9468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 ·  Aims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What this project is — and is not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01058B12-1B2E-4333-AC35-55911FEE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9468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F16E776-CB1A-4859-96F5-CBA8A9E8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0080000"/>
            <a:ext cx="13956000" cy="166902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26000" tIns="90000" rIns="126000" bIns="72000" anchor="t"/>
          <a:lstStyle xmlns:a="http://schemas.openxmlformats.org/drawingml/2006/main"/>
          <a:p xmlns:a="http://schemas.openxmlformats.org/drawingml/2006/main">
            <a:pPr algn="l">
              <a:spcBef>
                <a:spcPts val="200"/>
              </a:spcBef>
              <a:spcAft>
                <a:spcPts val="60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Build a constraint-aware generative Agent: theme keyword → mapped CS2 texture candidate.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60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Apply hard feasibility rules (seam budget and fixed multi-view checks) before export.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60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Test adapter-level transfer on M4A4 without claiming equivalent acceptance.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60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Academic prototype — not affiliated with Valve; not published to Steam Workshop.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82480F0-E6CD-42FF-B9CF-9B5C6F6E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1850514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 ·  Three Blocking Human Checkpoints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The agent never exports without approval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C9AFEA3-F54A-43DA-8A51-290CA190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1857028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75" name="Picture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f1257250ea4a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252" y="12382972"/>
            <a:ext cx="12340571" cy="2361257"/>
          </a:xfrm>
          <a:prstGeom xmlns:a="http://schemas.openxmlformats.org/drawingml/2006/main" prst="rect">
            <a:avLst/>
          </a:prstGeom>
        </p:spPr>
      </p:pic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9FDBD8A-479B-4DB8-B105-A6350895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4760000"/>
            <a:ext cx="144000" cy="10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E8EDBF24-F37C-4900-995C-D0987660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14760000"/>
            <a:ext cx="13740000" cy="100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8000" tIns="64799" rIns="108000" bIns="64799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CP1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Theme pack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
Confirm the visual world: concept, palette, motifs, mood, forbidden content.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B8123F0-A373-43D0-AAB3-264280B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00" y="14796000"/>
            <a:ext cx="50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D5420F4B-5D95-41AC-BE14-C5CBB135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5840000"/>
            <a:ext cx="144000" cy="10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4F978FC8-EA11-477E-9342-01D7F58C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15840000"/>
            <a:ext cx="13740000" cy="100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8000" tIns="64799" rIns="108000" bIns="64799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CP2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  ·  Artistic direction
Pick 1 of 3–4 text-prompted style directions.  Model recommends, user decides.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353EF20-ACAF-4994-B871-8B833CB9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00" y="15876000"/>
            <a:ext cx="50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414480C8-4307-49C5-9717-AE4FD91C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6920000"/>
            <a:ext cx="144000" cy="10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9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F886DB80-06DB-41A5-92DF-DDEA185A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16920000"/>
            <a:ext cx="13740000" cy="100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8000" tIns="64799" rIns="108000" bIns="64799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CP3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  ·  Final mapped artwork
See source + 3 mapped views (left / right / top) before approving any export.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EC876787-873A-4906-8171-E015D996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00" y="16956000"/>
            <a:ext cx="50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D29245F-607F-447F-841A-9A46221B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8144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B5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 ·  Three Principles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What we learned — and what we recommend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7BEAF661-3C14-4983-939E-B14E0B24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8144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6ACFE68F-9507-4EA0-A399-E2CF985A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8756000"/>
            <a:ext cx="540000" cy="9360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3BFE873E-4A56-4EB1-8313-DB1A288D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8756000"/>
            <a:ext cx="54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011C5AA6-E04B-49A4-B1EA-669B892D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0" y="18756000"/>
            <a:ext cx="13308000" cy="93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Bind the source image to the mapping view.
Never approve art on a flat canvas — the human must see how it sits on the gun.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140F201-4971-4763-9B21-60F80450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9764000"/>
            <a:ext cx="540000" cy="9360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4F03D0C2-7510-4A1F-8226-B5B55806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19764000"/>
            <a:ext cx="54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E688F307-57AA-4BAD-94DF-833B296B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0" y="19764000"/>
            <a:ext cx="13308000" cy="93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Feasibility ≠ preference.
Treat export readiness as a hard gate, not as another weighted feature in the score.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FA236F77-B093-45FA-BEE7-25156561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00" y="20772000"/>
            <a:ext cx="540000" cy="9360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78F520D9-94B6-489E-BF98-A338DE44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6000" y="20772000"/>
            <a:ext cx="54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384A02AC-8134-4E57-A468-21A26032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4000" y="20772000"/>
            <a:ext cx="13308000" cy="93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Corrections have a budget and a rollback rule.
Small “reasonable” edits can erase detail.  Roll back unless the score genuinely improves.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DD8FCE4-3DD5-4FA1-A5BF-AEBE936D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00" y="219688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89A2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 ·  What We Deliver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Concrete outputs and how to reproduce</a:t>
            </a:r>
          </a:p>
        </p:txBody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C41ECAAB-F2BB-4A91-B87C-5860E999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43" y="21924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2455A7E8-7476-4CFE-8B79-9F700E69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943" y="22711543"/>
            <a:ext cx="13956000" cy="280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26000" tIns="90000" rIns="126000" bIns="72000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Pipeline: Streamlit + CLI for the CP1 → CP2 → CP3 → export workflow.</a:t>
            </a:r>
          </a:p>
          <a:p xmlns:a="http://schemas.openxmlformats.org/drawingml/2006/main">
            <a:pPr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Models: SD-Turbo (local), Gemini-3.1 Flash Image (API), and Flash-Lite planning.</a:t>
            </a:r>
          </a:p>
          <a:p xmlns:a="http://schemas.openxmlformats.org/drawingml/2006/main">
            <a:pPr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Evidence: machine-readable JSON/CSV logs and 100 automated tests.</a:t>
            </a:r>
          </a:p>
          <a:p xmlns:a="http://schemas.openxmlformats.org/drawingml/2006/main">
            <a:pPr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Output: 2048 × 2048 RGB PNG/TGA textures baked to the AK-47 UV atlas.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B564FBA1-5A02-41A0-9495-5AD308AD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3240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 ·  Route B: Weapon-Space Composition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Compose in 3D, then bake to UV atlas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61FF49CC-BE44-4DE9-A9E2-0E53A4C4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3240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52E67F30-9BC6-425E-9EE4-5FC9CE2D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3852000"/>
            <a:ext cx="13956000" cy="1332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26000" tIns="90000" rIns="126000" bIns="72000" anchor="t"/>
          <a:lstStyle xmlns:a="http://schemas.openxmlformats.org/drawingml/2006/main"/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Route A (tileable baseline): compose a crop-tolerant 2D pattern, then map it through the asset UV.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Route B (this work): compose continuously in weapon space, then use geometry-normal guidance to bake back to the UV atlas.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  Substantially reduces true mapped seam error while preserving multi-view content.</a:t>
            </a:r>
          </a:p>
        </p:txBody>
      </p:sp>
      <p:pic>
        <p:nvPicPr>
          <p:cNvPr id="202" name="Picture 4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47da057c4f4a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451000" y="7578000"/>
            <a:ext cx="13956000" cy="2736000"/>
          </a:xfrm>
          <a:prstGeom xmlns:a="http://schemas.openxmlformats.org/drawingml/2006/main" prst="rect">
            <a:avLst/>
          </a:prstGeom>
        </p:spPr>
      </p:pic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C605629B-A6E3-4C43-B9E7-6546117E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1000" y="10396824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 ·  True Seam Error on AK-47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Geometric discontinuity of 4,999 3D-adjacent UV boundary pairs</a:t>
            </a:r>
          </a:p>
        </p:txBody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3AC671D0-1FEC-4DF4-BB1B-28849892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9229" y="103932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05" name="Picture 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90f982b77247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267314" y="10900824"/>
            <a:ext cx="8276343" cy="3247176"/>
          </a:xfrm>
          <a:prstGeom xmlns:a="http://schemas.openxmlformats.org/drawingml/2006/main" prst="rect">
            <a:avLst/>
          </a:prstGeom>
        </p:spPr>
      </p:pic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50BB0E9A-05C9-40A7-9568-928D513B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14220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 ·  Hard Constraints the Agent Enforces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Feasibility is not preference — it is a gate</a:t>
            </a:r>
          </a:p>
        </p:txBody>
      </p:sp>
      <p:sp>
        <p:nvSpPr>
          <p:cNvPr id="55" name="Rectangle 54">
            <a:extLst xmlns:a="http://schemas.openxmlformats.org/drawingml/2006/main">
              <a:ext uri="{FF2B5EF4-FFF2-40B4-BE49-F238E27FC236}">
                <a16:creationId xmlns:a16="http://schemas.microsoft.com/office/drawing/2014/main" id="{91857076-25E7-4497-AA05-7A667DAB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14220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6" name="Rectangle 55">
            <a:extLst xmlns:a="http://schemas.openxmlformats.org/drawingml/2006/main">
              <a:ext uri="{FF2B5EF4-FFF2-40B4-BE49-F238E27FC236}">
                <a16:creationId xmlns:a16="http://schemas.microsoft.com/office/drawing/2014/main" id="{546FCD5E-6ABC-45A0-BD87-DACCC876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14832000"/>
            <a:ext cx="6906000" cy="93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7" name="Rectangle 56">
            <a:extLst xmlns:a="http://schemas.openxmlformats.org/drawingml/2006/main">
              <a:ext uri="{FF2B5EF4-FFF2-40B4-BE49-F238E27FC236}">
                <a16:creationId xmlns:a16="http://schemas.microsoft.com/office/drawing/2014/main" id="{79547B27-2CC7-4080-B1E1-D6761F32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14832000"/>
            <a:ext cx="108000" cy="9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8" name="Rectangle 57">
            <a:extLst xmlns:a="http://schemas.openxmlformats.org/drawingml/2006/main">
              <a:ext uri="{FF2B5EF4-FFF2-40B4-BE49-F238E27FC236}">
                <a16:creationId xmlns:a16="http://schemas.microsoft.com/office/drawing/2014/main" id="{132F61F1-40C8-4EA1-BE58-54B8B07B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4000" y="14868000"/>
            <a:ext cx="669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Seam budget</a:t>
            </a:r>
          </a:p>
        </p:txBody>
      </p:sp>
      <p:sp>
        <p:nvSpPr>
          <p:cNvPr id="59" name="Rectangle 58">
            <a:extLst xmlns:a="http://schemas.openxmlformats.org/drawingml/2006/main">
              <a:ext uri="{FF2B5EF4-FFF2-40B4-BE49-F238E27FC236}">
                <a16:creationId xmlns:a16="http://schemas.microsoft.com/office/drawing/2014/main" id="{52D8E708-8CB0-42A0-A646-BADF98AC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4000" y="15264000"/>
            <a:ext cx="669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0E3B43"/>
                </a:solidFill>
                <a:latin typeface="Calibri"/>
                <a:ea typeface="Calibri"/>
                <a:cs typeface="Calibri"/>
              </a:rPr>
              <a:t>≤ 0.01 / edge</a:t>
            </a:r>
          </a:p>
        </p:txBody>
      </p:sp>
      <p:sp>
        <p:nvSpPr>
          <p:cNvPr id="60" name="Rectangle 59">
            <a:extLst xmlns:a="http://schemas.openxmlformats.org/drawingml/2006/main">
              <a:ext uri="{FF2B5EF4-FFF2-40B4-BE49-F238E27FC236}">
                <a16:creationId xmlns:a16="http://schemas.microsoft.com/office/drawing/2014/main" id="{83F5108C-7E05-45B9-915F-E04DB290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4000" y="14832000"/>
            <a:ext cx="6906000" cy="93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1" name="Rectangle 60">
            <a:extLst xmlns:a="http://schemas.openxmlformats.org/drawingml/2006/main">
              <a:ext uri="{FF2B5EF4-FFF2-40B4-BE49-F238E27FC236}">
                <a16:creationId xmlns:a16="http://schemas.microsoft.com/office/drawing/2014/main" id="{9C93CDCE-0683-4D4E-B045-968DA93E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4000" y="14832000"/>
            <a:ext cx="108000" cy="9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A8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2" name="Rectangle 61">
            <a:extLst xmlns:a="http://schemas.openxmlformats.org/drawingml/2006/main">
              <a:ext uri="{FF2B5EF4-FFF2-40B4-BE49-F238E27FC236}">
                <a16:creationId xmlns:a16="http://schemas.microsoft.com/office/drawing/2014/main" id="{047FBB79-8353-461D-8AA7-73223DB8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4000" y="14868000"/>
            <a:ext cx="669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Palette lock</a:t>
            </a:r>
          </a:p>
        </p:txBody>
      </p:sp>
      <p:sp>
        <p:nvSpPr>
          <p:cNvPr id="63" name="Rectangle 62">
            <a:extLst xmlns:a="http://schemas.openxmlformats.org/drawingml/2006/main">
              <a:ext uri="{FF2B5EF4-FFF2-40B4-BE49-F238E27FC236}">
                <a16:creationId xmlns:a16="http://schemas.microsoft.com/office/drawing/2014/main" id="{4B28F462-70A9-4294-815C-A3432D6D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4000" y="15264000"/>
            <a:ext cx="669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user-locked</a:t>
            </a:r>
            <a:r>
              <a:rPr sz="2000" b="0">
                <a:solidFill>
                  <a:srgbClr val="6B4A8E"/>
                </a:solidFill>
                <a:latin typeface="Calibri"/>
                <a:ea typeface="Calibri"/>
                <a:cs typeface="Calibri"/>
              </a:rPr>
              <a:t> set</a:t>
            </a:r>
          </a:p>
        </p:txBody>
      </p:sp>
      <p:sp>
        <p:nvSpPr>
          <p:cNvPr id="64" name="Rectangle 63">
            <a:extLst xmlns:a="http://schemas.openxmlformats.org/drawingml/2006/main">
              <a:ext uri="{FF2B5EF4-FFF2-40B4-BE49-F238E27FC236}">
                <a16:creationId xmlns:a16="http://schemas.microsoft.com/office/drawing/2014/main" id="{8446AE92-C450-4E61-AEDA-1D8141D6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15912000"/>
            <a:ext cx="6906000" cy="93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5" name="Rectangle 64">
            <a:extLst xmlns:a="http://schemas.openxmlformats.org/drawingml/2006/main">
              <a:ext uri="{FF2B5EF4-FFF2-40B4-BE49-F238E27FC236}">
                <a16:creationId xmlns:a16="http://schemas.microsoft.com/office/drawing/2014/main" id="{C20FBC07-F9A0-4845-AE8A-E6EC7601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15912000"/>
            <a:ext cx="108000" cy="9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6" name="Rectangle 65">
            <a:extLst xmlns:a="http://schemas.openxmlformats.org/drawingml/2006/main">
              <a:ext uri="{FF2B5EF4-FFF2-40B4-BE49-F238E27FC236}">
                <a16:creationId xmlns:a16="http://schemas.microsoft.com/office/drawing/2014/main" id="{CB036882-1517-4619-A1D2-35E1286A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4000" y="15948000"/>
            <a:ext cx="669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No repeat</a:t>
            </a:r>
          </a:p>
        </p:txBody>
      </p:sp>
      <p:sp>
        <p:nvSpPr>
          <p:cNvPr id="67" name="Rectangle 66">
            <a:extLst xmlns:a="http://schemas.openxmlformats.org/drawingml/2006/main">
              <a:ext uri="{FF2B5EF4-FFF2-40B4-BE49-F238E27FC236}">
                <a16:creationId xmlns:a16="http://schemas.microsoft.com/office/drawing/2014/main" id="{3D871DDF-BCD2-4E28-BACA-98F70AA5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4000" y="16344000"/>
            <a:ext cx="669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D89A2D"/>
                </a:solidFill>
                <a:latin typeface="Calibri"/>
                <a:ea typeface="Calibri"/>
                <a:cs typeface="Calibri"/>
              </a:rPr>
              <a:t>anti-periodic UV</a:t>
            </a:r>
          </a:p>
        </p:txBody>
      </p:sp>
      <p:sp>
        <p:nvSpPr>
          <p:cNvPr id="68" name="Rectangle 67">
            <a:extLst xmlns:a="http://schemas.openxmlformats.org/drawingml/2006/main">
              <a:ext uri="{FF2B5EF4-FFF2-40B4-BE49-F238E27FC236}">
                <a16:creationId xmlns:a16="http://schemas.microsoft.com/office/drawing/2014/main" id="{FB6B4E5D-F1F1-49C9-B1A2-D3907C9C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4000" y="15912000"/>
            <a:ext cx="6906000" cy="93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9" name="Rectangle 68">
            <a:extLst xmlns:a="http://schemas.openxmlformats.org/drawingml/2006/main">
              <a:ext uri="{FF2B5EF4-FFF2-40B4-BE49-F238E27FC236}">
                <a16:creationId xmlns:a16="http://schemas.microsoft.com/office/drawing/2014/main" id="{208A579A-1F5D-4151-9169-DF9C39F3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4000" y="15912000"/>
            <a:ext cx="108000" cy="9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8C5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0" name="Rectangle 69">
            <a:extLst xmlns:a="http://schemas.openxmlformats.org/drawingml/2006/main">
              <a:ext uri="{FF2B5EF4-FFF2-40B4-BE49-F238E27FC236}">
                <a16:creationId xmlns:a16="http://schemas.microsoft.com/office/drawing/2014/main" id="{EF42F902-1DAC-4072-B3D6-DDEB4509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4000" y="15948000"/>
            <a:ext cx="669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Multi-view OK</a:t>
            </a:r>
          </a:p>
        </p:txBody>
      </p:sp>
      <p:sp>
        <p:nvSpPr>
          <p:cNvPr id="71" name="Rectangle 70">
            <a:extLst xmlns:a="http://schemas.openxmlformats.org/drawingml/2006/main">
              <a:ext uri="{FF2B5EF4-FFF2-40B4-BE49-F238E27FC236}">
                <a16:creationId xmlns:a16="http://schemas.microsoft.com/office/drawing/2014/main" id="{EA8A6E7B-E9F0-47CF-A983-A600AF5F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4000" y="16344000"/>
            <a:ext cx="669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3F8C5C"/>
                </a:solidFill>
                <a:latin typeface="Calibri"/>
                <a:ea typeface="Calibri"/>
                <a:cs typeface="Calibri"/>
              </a:rPr>
              <a:t>3 / 3 fixed views</a:t>
            </a:r>
          </a:p>
        </p:txBody>
      </p:sp>
      <p:sp>
        <p:nvSpPr>
          <p:cNvPr id="72" name="Rectangle 71">
            <a:extLst xmlns:a="http://schemas.openxmlformats.org/drawingml/2006/main">
              <a:ext uri="{FF2B5EF4-FFF2-40B4-BE49-F238E27FC236}">
                <a16:creationId xmlns:a16="http://schemas.microsoft.com/office/drawing/2014/main" id="{85DA1557-6808-4C59-9BFD-83A06CDC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17136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  ·  Paired Multi-View Result  ·  4 / 4   Route B improves mapped-view score for all four formal candidates</a:t>
            </a:r>
          </a:p>
        </p:txBody>
      </p:sp>
      <p:sp>
        <p:nvSpPr>
          <p:cNvPr id="73" name="Rectangle 72">
            <a:extLst xmlns:a="http://schemas.openxmlformats.org/drawingml/2006/main">
              <a:ext uri="{FF2B5EF4-FFF2-40B4-BE49-F238E27FC236}">
                <a16:creationId xmlns:a16="http://schemas.microsoft.com/office/drawing/2014/main" id="{8DC25750-2418-421C-B8BC-75A23741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17136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26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a7c850022f4878"/>
          <a:stretch xmlns:a="http://schemas.openxmlformats.org/drawingml/2006/main"/>
        </p:blipFill>
        <p:spPr>
          <a:xfrm xmlns:a="http://schemas.openxmlformats.org/drawingml/2006/main">
            <a:off x="14423999" y="17750095"/>
            <a:ext cx="12323077" cy="3199810"/>
          </a:xfrm>
          <a:prstGeom xmlns:a="http://schemas.openxmlformats.org/drawingml/2006/main" prst="rect">
            <a:avLst/>
          </a:prstGeom>
        </p:spPr>
      </p:pic>
      <p:sp>
        <p:nvSpPr>
          <p:cNvPr id="75" name="Rectangle 74">
            <a:extLst xmlns:a="http://schemas.openxmlformats.org/drawingml/2006/main">
              <a:ext uri="{FF2B5EF4-FFF2-40B4-BE49-F238E27FC236}">
                <a16:creationId xmlns:a16="http://schemas.microsoft.com/office/drawing/2014/main" id="{196CFFAB-90DE-47D7-86CB-43481F56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20700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  ·  Selection &amp; Self-Correction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Feasibility &gt; preference  ·  Route C safely rejected</a:t>
            </a:r>
          </a:p>
        </p:txBody>
      </p:sp>
      <p:sp>
        <p:nvSpPr>
          <p:cNvPr id="76" name="Rectangle 75">
            <a:extLst xmlns:a="http://schemas.openxmlformats.org/drawingml/2006/main">
              <a:ext uri="{FF2B5EF4-FFF2-40B4-BE49-F238E27FC236}">
                <a16:creationId xmlns:a16="http://schemas.microsoft.com/office/drawing/2014/main" id="{533AA958-B5DA-4D29-ACDA-A0C1F345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20700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7" name="Rectangle 76">
            <a:extLst xmlns:a="http://schemas.openxmlformats.org/drawingml/2006/main">
              <a:ext uri="{FF2B5EF4-FFF2-40B4-BE49-F238E27FC236}">
                <a16:creationId xmlns:a16="http://schemas.microsoft.com/office/drawing/2014/main" id="{E070EEE2-EC31-479E-BBAE-BF1A37B5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4000" y="21312000"/>
            <a:ext cx="6870000" cy="16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D8D4"/>
          </a:solidFill>
          <a:ln xmlns:a="http://schemas.openxmlformats.org/drawingml/2006/main" w="8890">
            <a:solidFill>
              <a:srgbClr val="B5443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89046DB5-51C3-443C-8602-4A445AD7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8000" y="21384000"/>
            <a:ext cx="6582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B5443A"/>
                </a:solidFill>
                <a:latin typeface="Calibri"/>
                <a:ea typeface="Calibri"/>
                <a:cs typeface="Calibri"/>
              </a:rPr>
              <a:t>Weighted score (early)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714B2016-16E2-4B05-8427-9EB02467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8000" y="21744000"/>
            <a:ext cx="658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seam = 0.0166</a:t>
            </a:r>
          </a:p>
        </p:txBody>
      </p:sp>
      <p:sp>
        <p:nvSpPr>
          <p:cNvPr id="80" name="Rectangle 79">
            <a:extLst xmlns:a="http://schemas.openxmlformats.org/drawingml/2006/main">
              <a:ext uri="{FF2B5EF4-FFF2-40B4-BE49-F238E27FC236}">
                <a16:creationId xmlns:a16="http://schemas.microsoft.com/office/drawing/2014/main" id="{A94F80C4-5953-49E0-A9A7-B4D6377E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8000" y="22176000"/>
            <a:ext cx="6582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✗ FAILS export test — small visual gain hid 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an export-gate failure</a:t>
            </a: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81" name="Rectangle 80">
            <a:extLst xmlns:a="http://schemas.openxmlformats.org/drawingml/2006/main">
              <a:ext uri="{FF2B5EF4-FFF2-40B4-BE49-F238E27FC236}">
                <a16:creationId xmlns:a16="http://schemas.microsoft.com/office/drawing/2014/main" id="{98B668DB-A693-419C-ADDE-C0AC9B24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10000" y="21312000"/>
            <a:ext cx="6870000" cy="16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8ECDB"/>
          </a:solidFill>
          <a:ln xmlns:a="http://schemas.openxmlformats.org/drawingml/2006/main" w="8890">
            <a:solidFill>
              <a:srgbClr val="3F8C5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2" name="Rectangle 81">
            <a:extLst xmlns:a="http://schemas.openxmlformats.org/drawingml/2006/main">
              <a:ext uri="{FF2B5EF4-FFF2-40B4-BE49-F238E27FC236}">
                <a16:creationId xmlns:a16="http://schemas.microsoft.com/office/drawing/2014/main" id="{B81377DB-D3E5-45CE-8985-C42A547A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4000" y="21384000"/>
            <a:ext cx="6582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3F8C5C"/>
                </a:solidFill>
                <a:latin typeface="Calibri"/>
                <a:ea typeface="Calibri"/>
                <a:cs typeface="Calibri"/>
              </a:rPr>
              <a:t>Constraint-first + Pareto (current)</a:t>
            </a:r>
          </a:p>
        </p:txBody>
      </p:sp>
      <p:sp>
        <p:nvSpPr>
          <p:cNvPr id="83" name="Rectangle 82">
            <a:extLst xmlns:a="http://schemas.openxmlformats.org/drawingml/2006/main">
              <a:ext uri="{FF2B5EF4-FFF2-40B4-BE49-F238E27FC236}">
                <a16:creationId xmlns:a16="http://schemas.microsoft.com/office/drawing/2014/main" id="{F46ABAF3-32BC-43B6-B1C7-015C0570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4000" y="21744000"/>
            <a:ext cx="658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seam = 0.0055</a:t>
            </a:r>
          </a:p>
        </p:txBody>
      </p:sp>
      <p:sp>
        <p:nvSpPr>
          <p:cNvPr id="84" name="Rectangle 83">
            <a:extLst xmlns:a="http://schemas.openxmlformats.org/drawingml/2006/main">
              <a:ext uri="{FF2B5EF4-FFF2-40B4-BE49-F238E27FC236}">
                <a16:creationId xmlns:a16="http://schemas.microsoft.com/office/drawing/2014/main" id="{0668AFBB-0AB9-4C8E-834D-139C661C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4000" y="22176000"/>
            <a:ext cx="6582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✓ EXPORTABLE — passes texture export gates.</a:t>
            </a:r>
          </a:p>
        </p:txBody>
      </p:sp>
      <p:pic>
        <p:nvPicPr>
          <p:cNvPr id="237" name="Picture 8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fe2f0c15a14cc6"/>
          <a:stretch xmlns:a="http://schemas.openxmlformats.org/drawingml/2006/main"/>
        </p:blipFill>
        <p:spPr>
          <a:xfrm xmlns:a="http://schemas.openxmlformats.org/drawingml/2006/main">
            <a:off x="15071026" y="23196506"/>
            <a:ext cx="12805948" cy="3563560"/>
          </a:xfrm>
          <a:prstGeom xmlns:a="http://schemas.openxmlformats.org/drawingml/2006/main" prst="rect">
            <a:avLst/>
          </a:prstGeom>
        </p:spPr>
      </p:pic>
      <p:sp>
        <p:nvSpPr>
          <p:cNvPr id="86" name="Rectangle 85">
            <a:extLst xmlns:a="http://schemas.openxmlformats.org/drawingml/2006/main">
              <a:ext uri="{FF2B5EF4-FFF2-40B4-BE49-F238E27FC236}">
                <a16:creationId xmlns:a16="http://schemas.microsoft.com/office/drawing/2014/main" id="{9E513B19-3D17-4F9B-B243-6F98BF04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3240000"/>
            <a:ext cx="13908225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B5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  ·  Key Results on AK-47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Route B vs Route A — head to head</a:t>
            </a:r>
          </a:p>
        </p:txBody>
      </p:sp>
      <p:sp>
        <p:nvSpPr>
          <p:cNvPr id="87" name="Rectangle 86">
            <a:extLst xmlns:a="http://schemas.openxmlformats.org/drawingml/2006/main">
              <a:ext uri="{FF2B5EF4-FFF2-40B4-BE49-F238E27FC236}">
                <a16:creationId xmlns:a16="http://schemas.microsoft.com/office/drawing/2014/main" id="{2DECBFE9-55A1-45F7-8AE4-1E9AF870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3240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8" name="Rectangle 87">
            <a:extLst xmlns:a="http://schemas.openxmlformats.org/drawingml/2006/main">
              <a:ext uri="{FF2B5EF4-FFF2-40B4-BE49-F238E27FC236}">
                <a16:creationId xmlns:a16="http://schemas.microsoft.com/office/drawing/2014/main" id="{AA6E1526-00CC-4919-B5AD-AE8688BF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3852000"/>
            <a:ext cx="6870000" cy="2016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4D8D4"/>
          </a:solidFill>
          <a:ln xmlns:a="http://schemas.openxmlformats.org/drawingml/2006/main" w="10160">
            <a:solidFill>
              <a:srgbClr val="B5443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9" name="Rectangle 88">
            <a:extLst xmlns:a="http://schemas.openxmlformats.org/drawingml/2006/main">
              <a:ext uri="{FF2B5EF4-FFF2-40B4-BE49-F238E27FC236}">
                <a16:creationId xmlns:a16="http://schemas.microsoft.com/office/drawing/2014/main" id="{3600777C-1BEC-4403-98AF-6E415983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76000" y="3960000"/>
            <a:ext cx="658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B5443A"/>
                </a:solidFill>
                <a:latin typeface="Calibri"/>
                <a:ea typeface="Calibri"/>
                <a:cs typeface="Calibri"/>
              </a:rPr>
              <a:t>ASSET SEAM ERROR</a:t>
            </a:r>
          </a:p>
        </p:txBody>
      </p:sp>
      <p:sp>
        <p:nvSpPr>
          <p:cNvPr id="90" name="Rectangle 89">
            <a:extLst xmlns:a="http://schemas.openxmlformats.org/drawingml/2006/main">
              <a:ext uri="{FF2B5EF4-FFF2-40B4-BE49-F238E27FC236}">
                <a16:creationId xmlns:a16="http://schemas.microsoft.com/office/drawing/2014/main" id="{78B47D2F-B579-4F4B-8361-F57DF821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76000" y="4356000"/>
            <a:ext cx="6582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B5443A"/>
                </a:solidFill>
                <a:latin typeface="Calibri"/>
                <a:ea typeface="Calibri"/>
                <a:cs typeface="Calibri"/>
              </a:rPr>
              <a:t>▼ 99.77%</a:t>
            </a:r>
          </a:p>
        </p:txBody>
      </p:sp>
      <p:sp>
        <p:nvSpPr>
          <p:cNvPr id="91" name="Rectangle 90">
            <a:extLst xmlns:a="http://schemas.openxmlformats.org/drawingml/2006/main">
              <a:ext uri="{FF2B5EF4-FFF2-40B4-BE49-F238E27FC236}">
                <a16:creationId xmlns:a16="http://schemas.microsoft.com/office/drawing/2014/main" id="{42D26E41-6887-4AC2-A783-9230CD96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76000" y="5065200"/>
            <a:ext cx="7459800" cy="49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0.00063 vs 0.26997
(Route B vs Route A)</a:t>
            </a:r>
          </a:p>
        </p:txBody>
      </p:sp>
      <p:sp>
        <p:nvSpPr>
          <p:cNvPr id="92" name="Rectangle 91">
            <a:extLst xmlns:a="http://schemas.openxmlformats.org/drawingml/2006/main">
              <a:ext uri="{FF2B5EF4-FFF2-40B4-BE49-F238E27FC236}">
                <a16:creationId xmlns:a16="http://schemas.microsoft.com/office/drawing/2014/main" id="{B13C7DB3-7F9B-4BB0-804B-CE76D9A4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000" y="3852000"/>
            <a:ext cx="6870000" cy="2016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8ECDB"/>
          </a:solidFill>
          <a:ln xmlns:a="http://schemas.openxmlformats.org/drawingml/2006/main" w="10160">
            <a:solidFill>
              <a:srgbClr val="3F8C5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3" name="Rectangle 92">
            <a:extLst xmlns:a="http://schemas.openxmlformats.org/drawingml/2006/main">
              <a:ext uri="{FF2B5EF4-FFF2-40B4-BE49-F238E27FC236}">
                <a16:creationId xmlns:a16="http://schemas.microsoft.com/office/drawing/2014/main" id="{409AF2A3-7A13-488B-B617-10A5E331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62000" y="3960000"/>
            <a:ext cx="658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3F8C5C"/>
                </a:solidFill>
                <a:latin typeface="Calibri"/>
                <a:ea typeface="Calibri"/>
                <a:cs typeface="Calibri"/>
              </a:rPr>
              <a:t>MULTI-VIEW SCORE</a:t>
            </a:r>
          </a:p>
        </p:txBody>
      </p:sp>
      <p:sp>
        <p:nvSpPr>
          <p:cNvPr id="94" name="Rectangle 93">
            <a:extLst xmlns:a="http://schemas.openxmlformats.org/drawingml/2006/main">
              <a:ext uri="{FF2B5EF4-FFF2-40B4-BE49-F238E27FC236}">
                <a16:creationId xmlns:a16="http://schemas.microsoft.com/office/drawing/2014/main" id="{21D83918-7E4D-4F50-9DCC-D3ED32EA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62000" y="4356000"/>
            <a:ext cx="6582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3F8C5C"/>
                </a:solidFill>
                <a:latin typeface="Calibri"/>
                <a:ea typeface="Calibri"/>
                <a:cs typeface="Calibri"/>
              </a:rPr>
              <a:t>▲ +0.060</a:t>
            </a:r>
          </a:p>
        </p:txBody>
      </p:sp>
      <p:sp>
        <p:nvSpPr>
          <p:cNvPr id="95" name="Rectangle 94">
            <a:extLst xmlns:a="http://schemas.openxmlformats.org/drawingml/2006/main">
              <a:ext uri="{FF2B5EF4-FFF2-40B4-BE49-F238E27FC236}">
                <a16:creationId xmlns:a16="http://schemas.microsoft.com/office/drawing/2014/main" id="{25041586-180A-4E31-9F51-EA870225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62000" y="5065200"/>
            <a:ext cx="6582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0.829 vs 0.769
4 / 4 candidates improve</a:t>
            </a:r>
          </a:p>
        </p:txBody>
      </p:sp>
      <p:sp>
        <p:nvSpPr>
          <p:cNvPr id="96" name="Rectangle 95">
            <a:extLst xmlns:a="http://schemas.openxmlformats.org/drawingml/2006/main">
              <a:ext uri="{FF2B5EF4-FFF2-40B4-BE49-F238E27FC236}">
                <a16:creationId xmlns:a16="http://schemas.microsoft.com/office/drawing/2014/main" id="{361DE5B9-3C0A-4811-8E49-C2CFEA7B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6048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  ·  Real Run:  dragon  →  Treasured Relic</a:t>
            </a:r>
            <a:r>
              <a:rPr sz="95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The end-to-end run that produced the final export</a:t>
            </a:r>
          </a:p>
        </p:txBody>
      </p:sp>
      <p:sp>
        <p:nvSpPr>
          <p:cNvPr id="97" name="Rectangle 96">
            <a:extLst xmlns:a="http://schemas.openxmlformats.org/drawingml/2006/main">
              <a:ext uri="{FF2B5EF4-FFF2-40B4-BE49-F238E27FC236}">
                <a16:creationId xmlns:a16="http://schemas.microsoft.com/office/drawing/2014/main" id="{270B5B92-931D-4A31-A45F-D5CC05E1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6048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8" name="Rectangle 97">
            <a:extLst xmlns:a="http://schemas.openxmlformats.org/drawingml/2006/main">
              <a:ext uri="{FF2B5EF4-FFF2-40B4-BE49-F238E27FC236}">
                <a16:creationId xmlns:a16="http://schemas.microsoft.com/office/drawing/2014/main" id="{DBD29D45-63D6-4106-9BB2-0BB91311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6660000"/>
            <a:ext cx="7675800" cy="259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51" name="Picture 9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1f92693bd42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703999" y="6732000"/>
            <a:ext cx="8002629" cy="2601030"/>
          </a:xfrm>
          <a:prstGeom xmlns:a="http://schemas.openxmlformats.org/drawingml/2006/main" prst="rect">
            <a:avLst/>
          </a:prstGeom>
        </p:spPr>
      </p:pic>
      <p:sp>
        <p:nvSpPr>
          <p:cNvPr id="100" name="Rectangle 99">
            <a:extLst xmlns:a="http://schemas.openxmlformats.org/drawingml/2006/main">
              <a:ext uri="{FF2B5EF4-FFF2-40B4-BE49-F238E27FC236}">
                <a16:creationId xmlns:a16="http://schemas.microsoft.com/office/drawing/2014/main" id="{F739E3A0-222B-49BB-856E-29C2413D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30770" y="6732000"/>
            <a:ext cx="5609455" cy="2447999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26000" tIns="90000" rIns="126000" bIns="72000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Selected: artwork_04 (1 of 4)</a:t>
            </a:r>
          </a:p>
          <a:p xmlns:a="http://schemas.openxmlformats.org/drawingml/2006/main">
            <a:pPr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Seam error: 0.00078 (&lt; 0.01)</a:t>
            </a:r>
          </a:p>
          <a:p xmlns:a="http://schemas.openxmlformats.org/drawingml/2006/main">
            <a:pPr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Multi-view: 0.8166 (left / right / top)</a:t>
            </a:r>
          </a:p>
          <a:p xmlns:a="http://schemas.openxmlformats.org/drawingml/2006/main">
            <a:pPr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Export: 2048 × 2048 RGB PNG/TGA</a:t>
            </a:r>
          </a:p>
        </p:txBody>
      </p:sp>
      <p:sp>
        <p:nvSpPr>
          <p:cNvPr id="101" name="Rectangle 100">
            <a:extLst xmlns:a="http://schemas.openxmlformats.org/drawingml/2006/main">
              <a:ext uri="{FF2B5EF4-FFF2-40B4-BE49-F238E27FC236}">
                <a16:creationId xmlns:a16="http://schemas.microsoft.com/office/drawing/2014/main" id="{13067F60-7225-4BD7-8C7E-4C432A38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9396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3F8C5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  ·  Selection Strategy:  Feasibility &gt; Preference   Constraint-first + Pareto selects a feasible export candidate</a:t>
            </a:r>
          </a:p>
        </p:txBody>
      </p:sp>
      <p:sp>
        <p:nvSpPr>
          <p:cNvPr id="102" name="Rectangle 101">
            <a:extLst xmlns:a="http://schemas.openxmlformats.org/drawingml/2006/main">
              <a:ext uri="{FF2B5EF4-FFF2-40B4-BE49-F238E27FC236}">
                <a16:creationId xmlns:a16="http://schemas.microsoft.com/office/drawing/2014/main" id="{2A4E26F8-20C9-455A-9D3E-3D45AB53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9396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55" name="Picture 10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5e451cbbe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0502314" y="9900000"/>
            <a:ext cx="8222343" cy="3045600"/>
          </a:xfrm>
          <a:prstGeom xmlns:a="http://schemas.openxmlformats.org/drawingml/2006/main" prst="rect">
            <a:avLst/>
          </a:prstGeom>
        </p:spPr>
      </p:pic>
      <p:sp>
        <p:nvSpPr>
          <p:cNvPr id="104" name="Rectangle 103">
            <a:extLst xmlns:a="http://schemas.openxmlformats.org/drawingml/2006/main">
              <a:ext uri="{FF2B5EF4-FFF2-40B4-BE49-F238E27FC236}">
                <a16:creationId xmlns:a16="http://schemas.microsoft.com/office/drawing/2014/main" id="{63464AD9-3BA0-46B8-A552-2CB09B03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12996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6B4A8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  ·  Adapter Transfer:  AK-47  →  M4A4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Agent contract is reusable  ·  asset params must be re-calibrated</a:t>
            </a:r>
          </a:p>
        </p:txBody>
      </p:sp>
      <p:sp>
        <p:nvSpPr>
          <p:cNvPr id="105" name="Rectangle 104">
            <a:extLst xmlns:a="http://schemas.openxmlformats.org/drawingml/2006/main">
              <a:ext uri="{FF2B5EF4-FFF2-40B4-BE49-F238E27FC236}">
                <a16:creationId xmlns:a16="http://schemas.microsoft.com/office/drawing/2014/main" id="{372AA1A4-156B-4ED0-8CE2-A8D3355A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12996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6" name="Rectangle 105">
            <a:extLst xmlns:a="http://schemas.openxmlformats.org/drawingml/2006/main">
              <a:ext uri="{FF2B5EF4-FFF2-40B4-BE49-F238E27FC236}">
                <a16:creationId xmlns:a16="http://schemas.microsoft.com/office/drawing/2014/main" id="{7DAD9AEB-6AD4-4160-9095-4E86F2E8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13608000"/>
            <a:ext cx="6870000" cy="180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1D7EE"/>
          </a:solidFill>
          <a:ln xmlns:a="http://schemas.openxmlformats.org/drawingml/2006/main" w="8890">
            <a:solidFill>
              <a:srgbClr val="6B4A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7" name="Rectangle 106">
            <a:extLst xmlns:a="http://schemas.openxmlformats.org/drawingml/2006/main">
              <a:ext uri="{FF2B5EF4-FFF2-40B4-BE49-F238E27FC236}">
                <a16:creationId xmlns:a16="http://schemas.microsoft.com/office/drawing/2014/main" id="{89190A0E-C432-4A05-AAEC-9CEED2E2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76000" y="13680000"/>
            <a:ext cx="6582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6B4A8E"/>
                </a:solidFill>
                <a:latin typeface="Calibri"/>
                <a:ea typeface="Calibri"/>
                <a:cs typeface="Calibri"/>
              </a:rPr>
              <a:t>REUSABLE  (purple)</a:t>
            </a:r>
          </a:p>
        </p:txBody>
      </p:sp>
      <p:sp>
        <p:nvSpPr>
          <p:cNvPr id="108" name="Rectangle 107">
            <a:extLst xmlns:a="http://schemas.openxmlformats.org/drawingml/2006/main">
              <a:ext uri="{FF2B5EF4-FFF2-40B4-BE49-F238E27FC236}">
                <a16:creationId xmlns:a16="http://schemas.microsoft.com/office/drawing/2014/main" id="{3DB31044-3D1A-4484-A105-04424A7D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76000" y="14076000"/>
            <a:ext cx="6582000" cy="12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• Agent state machine
• Checkpoint contract
• Generation back-end
• Eval &amp; logging</a:t>
            </a:r>
          </a:p>
        </p:txBody>
      </p:sp>
      <p:sp>
        <p:nvSpPr>
          <p:cNvPr id="109" name="Rectangle 108">
            <a:extLst xmlns:a="http://schemas.openxmlformats.org/drawingml/2006/main">
              <a:ext uri="{FF2B5EF4-FFF2-40B4-BE49-F238E27FC236}">
                <a16:creationId xmlns:a16="http://schemas.microsoft.com/office/drawing/2014/main" id="{36458478-21E3-447C-ABD6-BF2410FC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000" y="13608000"/>
            <a:ext cx="6870000" cy="180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8ECCB"/>
          </a:solidFill>
          <a:ln xmlns:a="http://schemas.openxmlformats.org/drawingml/2006/main" w="8890">
            <a:solidFill>
              <a:srgbClr val="D89A2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0" name="Rectangle 109">
            <a:extLst xmlns:a="http://schemas.openxmlformats.org/drawingml/2006/main">
              <a:ext uri="{FF2B5EF4-FFF2-40B4-BE49-F238E27FC236}">
                <a16:creationId xmlns:a16="http://schemas.microsoft.com/office/drawing/2014/main" id="{52B80D8B-6994-441C-B786-2FD32EBD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62000" y="13680000"/>
            <a:ext cx="6582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D89A2D"/>
                </a:solidFill>
                <a:latin typeface="Calibri"/>
                <a:ea typeface="Calibri"/>
                <a:cs typeface="Calibri"/>
              </a:rPr>
              <a:t>MUST RE-CALIBRATE  (amber)</a:t>
            </a:r>
          </a:p>
        </p:txBody>
      </p:sp>
      <p:sp>
        <p:nvSpPr>
          <p:cNvPr id="111" name="Rectangle 110">
            <a:extLst xmlns:a="http://schemas.openxmlformats.org/drawingml/2006/main">
              <a:ext uri="{FF2B5EF4-FFF2-40B4-BE49-F238E27FC236}">
                <a16:creationId xmlns:a16="http://schemas.microsoft.com/office/drawing/2014/main" id="{DFAB7350-6E4C-45EE-8CE3-9E2E1368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62000" y="14076000"/>
            <a:ext cx="6582000" cy="12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102A33"/>
                </a:solidFill>
                <a:latin typeface="Calibri"/>
                <a:ea typeface="Calibri"/>
                <a:cs typeface="Calibri"/>
              </a:rPr>
              <a:t>• OBJ / UV binding
• Seam map
• Camera poses
• Mask, edge width, thresholds</a:t>
            </a:r>
          </a:p>
        </p:txBody>
      </p:sp>
      <p:pic>
        <p:nvPicPr>
          <p:cNvPr id="264" name="Picture 1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343d63b0c747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0228571" y="15615832"/>
            <a:ext cx="9780124" cy="2312168"/>
          </a:xfrm>
          <a:prstGeom xmlns:a="http://schemas.openxmlformats.org/drawingml/2006/main" prst="rect">
            <a:avLst/>
          </a:prstGeom>
        </p:spPr>
      </p:pic>
      <p:sp>
        <p:nvSpPr>
          <p:cNvPr id="113" name="Rectangle 112">
            <a:extLst xmlns:a="http://schemas.openxmlformats.org/drawingml/2006/main">
              <a:ext uri="{FF2B5EF4-FFF2-40B4-BE49-F238E27FC236}">
                <a16:creationId xmlns:a16="http://schemas.microsoft.com/office/drawing/2014/main" id="{B3FAA450-7265-438D-B3E4-DD43A097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17964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B5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  ·  Visual Gallery  ·  Route B Outputs   LEFT / RIGHT / TOP software renders of two mapped candidates</a:t>
            </a:r>
          </a:p>
        </p:txBody>
      </p:sp>
      <p:sp>
        <p:nvSpPr>
          <p:cNvPr id="114" name="Rectangle 113">
            <a:extLst xmlns:a="http://schemas.openxmlformats.org/drawingml/2006/main">
              <a:ext uri="{FF2B5EF4-FFF2-40B4-BE49-F238E27FC236}">
                <a16:creationId xmlns:a16="http://schemas.microsoft.com/office/drawing/2014/main" id="{4CB3BDCF-24CA-4641-9AAD-7FC0860C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17964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5" name="Rectangle 114">
            <a:extLst xmlns:a="http://schemas.openxmlformats.org/drawingml/2006/main">
              <a:ext uri="{FF2B5EF4-FFF2-40B4-BE49-F238E27FC236}">
                <a16:creationId xmlns:a16="http://schemas.microsoft.com/office/drawing/2014/main" id="{5A0793A1-DA7F-4679-883B-405A10AE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18576000"/>
            <a:ext cx="13956000" cy="201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E4E8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68" name="Picture 1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1f92693bd42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740000" y="18684000"/>
            <a:ext cx="6762000" cy="2251950"/>
          </a:xfrm>
          <a:prstGeom xmlns:a="http://schemas.openxmlformats.org/drawingml/2006/main" prst="rect">
            <a:avLst/>
          </a:prstGeom>
        </p:spPr>
      </p:pic>
      <p:pic>
        <p:nvPicPr>
          <p:cNvPr id="269" name="Picture 1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6e6e3411ab4b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09999" y="18684000"/>
            <a:ext cx="6977763" cy="2251950"/>
          </a:xfrm>
          <a:prstGeom xmlns:a="http://schemas.openxmlformats.org/drawingml/2006/main" prst="rect">
            <a:avLst/>
          </a:prstGeom>
        </p:spPr>
      </p:pic>
      <p:sp>
        <p:nvSpPr>
          <p:cNvPr id="118" name="Rectangle 117">
            <a:extLst xmlns:a="http://schemas.openxmlformats.org/drawingml/2006/main">
              <a:ext uri="{FF2B5EF4-FFF2-40B4-BE49-F238E27FC236}">
                <a16:creationId xmlns:a16="http://schemas.microsoft.com/office/drawing/2014/main" id="{0F04F17D-32BA-4B20-8A17-86C79872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58000" y="20952000"/>
            <a:ext cx="6762000" cy="3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Treasured Relic  (artwork_04)</a:t>
            </a:r>
          </a:p>
        </p:txBody>
      </p:sp>
      <p:sp>
        <p:nvSpPr>
          <p:cNvPr id="119" name="Rectangle 118">
            <a:extLst xmlns:a="http://schemas.openxmlformats.org/drawingml/2006/main">
              <a:ext uri="{FF2B5EF4-FFF2-40B4-BE49-F238E27FC236}">
                <a16:creationId xmlns:a16="http://schemas.microsoft.com/office/drawing/2014/main" id="{D08460B4-284F-46A2-B409-01B1F067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09999" y="20952000"/>
            <a:ext cx="7013763" cy="3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Hazard Sigil  (alt. style)</a:t>
            </a:r>
          </a:p>
        </p:txBody>
      </p:sp>
      <p:sp>
        <p:nvSpPr>
          <p:cNvPr id="120" name="Rectangle 119">
            <a:extLst xmlns:a="http://schemas.openxmlformats.org/drawingml/2006/main">
              <a:ext uri="{FF2B5EF4-FFF2-40B4-BE49-F238E27FC236}">
                <a16:creationId xmlns:a16="http://schemas.microsoft.com/office/drawing/2014/main" id="{554EE260-92C2-46BD-A5C2-5C585E6B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1763" y="21509025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C99A3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  ·  Conclusion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What we deliver</a:t>
            </a:r>
          </a:p>
        </p:txBody>
      </p:sp>
      <p:sp>
        <p:nvSpPr>
          <p:cNvPr id="121" name="Rectangle 120">
            <a:extLst xmlns:a="http://schemas.openxmlformats.org/drawingml/2006/main">
              <a:ext uri="{FF2B5EF4-FFF2-40B4-BE49-F238E27FC236}">
                <a16:creationId xmlns:a16="http://schemas.microsoft.com/office/drawing/2014/main" id="{BD2B5253-91E5-4E05-A0E8-67F48BBC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1592" y="21521025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2" name="Rectangle 121">
            <a:extLst xmlns:a="http://schemas.openxmlformats.org/drawingml/2006/main">
              <a:ext uri="{FF2B5EF4-FFF2-40B4-BE49-F238E27FC236}">
                <a16:creationId xmlns:a16="http://schemas.microsoft.com/office/drawing/2014/main" id="{B9E4B485-BA6B-4484-89EA-E3BF4D1B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84225" y="22112475"/>
            <a:ext cx="13956000" cy="1331025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C99A3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26000" tIns="90000" rIns="126000" bIns="72000" anchor="t"/>
          <a:lstStyle xmlns:a="http://schemas.openxmlformats.org/drawingml/2006/main"/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Deliver: mapped, seam-compliant CS2 texture candidates with three human checkpoints.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Validate: 100 automated tests; code on GitHub; AK-47 primary, M4A4 adapter transfer.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Safety result: four formal corrections and the live dragon correction were rejected as non-improving.</a:t>
            </a:r>
          </a:p>
        </p:txBody>
      </p:sp>
      <p:sp>
        <p:nvSpPr>
          <p:cNvPr id="123" name="Rectangle 122">
            <a:extLst xmlns:a="http://schemas.openxmlformats.org/drawingml/2006/main">
              <a:ext uri="{FF2B5EF4-FFF2-40B4-BE49-F238E27FC236}">
                <a16:creationId xmlns:a16="http://schemas.microsoft.com/office/drawing/2014/main" id="{F63D91A6-7924-4BCA-B84D-3826A99D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23580000"/>
            <a:ext cx="13956000" cy="504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B5443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16000" tIns="36000" rIns="216000" bIns="3600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  ·  Limitations &amp; Future Work</a:t>
            </a:r>
            <a:r>
              <a:rPr sz="24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Honest about what this prototype does not yet do</a:t>
            </a:r>
          </a:p>
        </p:txBody>
      </p:sp>
      <p:sp>
        <p:nvSpPr>
          <p:cNvPr id="124" name="Rectangle 123">
            <a:extLst xmlns:a="http://schemas.openxmlformats.org/drawingml/2006/main">
              <a:ext uri="{FF2B5EF4-FFF2-40B4-BE49-F238E27FC236}">
                <a16:creationId xmlns:a16="http://schemas.microsoft.com/office/drawing/2014/main" id="{FD7DD754-0981-4C55-BBE9-0BDD1133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23580000"/>
            <a:ext cx="54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5" name="Rectangle 124">
            <a:extLst xmlns:a="http://schemas.openxmlformats.org/drawingml/2006/main">
              <a:ext uri="{FF2B5EF4-FFF2-40B4-BE49-F238E27FC236}">
                <a16:creationId xmlns:a16="http://schemas.microsoft.com/office/drawing/2014/main" id="{97190352-2C84-4542-84F9-EEB899E7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000" y="24192000"/>
            <a:ext cx="13956000" cy="1728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F4D8D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26000" tIns="90000" rIns="126000" bIns="72000" anchor="t"/>
          <a:lstStyle xmlns:a="http://schemas.openxmlformats.org/drawingml/2006/main"/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Weapons: AK-47 complete; M4A4 is adapter-level transfer evidence only.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Materials: base-colour only; no normal, roughness, metallic, height, or full PBR output.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Deployment: Streamlit is the demo client; no automated Steam Workshop publication.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  <a:defRPr sz="1500" b="0">
                <a:solidFill>
                  <a:srgbClr val="163A4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3A42"/>
                </a:solidFill>
                <a:latin typeface="Arial"/>
                <a:ea typeface="Arial"/>
                <a:cs typeface="Arial"/>
              </a:rPr>
              <a:t>▸  Demo: python -m streamlit run streamlit_app.py</a:t>
            </a:r>
          </a:p>
        </p:txBody>
      </p:sp>
      <p:sp>
        <p:nvSpPr>
          <p:cNvPr id="126" name="Rectangle 125">
            <a:extLst xmlns:a="http://schemas.openxmlformats.org/drawingml/2006/main">
              <a:ext uri="{FF2B5EF4-FFF2-40B4-BE49-F238E27FC236}">
                <a16:creationId xmlns:a16="http://schemas.microsoft.com/office/drawing/2014/main" id="{47DE1711-5CC6-413E-B143-695E2449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864000"/>
            <a:ext cx="42804000" cy="24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127" name="Rectangle 126">
            <a:extLst xmlns:a="http://schemas.openxmlformats.org/drawingml/2006/main">
              <a:ext uri="{FF2B5EF4-FFF2-40B4-BE49-F238E27FC236}">
                <a16:creationId xmlns:a16="http://schemas.microsoft.com/office/drawing/2014/main" id="{3D7BDA2D-6BAE-45DA-8E3D-6A4EDA22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864000"/>
            <a:ext cx="42804000" cy="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3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8" name="Rectangle 127">
            <a:extLst xmlns:a="http://schemas.openxmlformats.org/drawingml/2006/main">
              <a:ext uri="{FF2B5EF4-FFF2-40B4-BE49-F238E27FC236}">
                <a16:creationId xmlns:a16="http://schemas.microsoft.com/office/drawing/2014/main" id="{8182441A-B877-4C5D-BF55-B3D09DA4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28044000"/>
            <a:ext cx="1296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C99A35"/>
                </a:solidFill>
                <a:latin typeface="Calibri"/>
                <a:ea typeface="Calibri"/>
                <a:cs typeface="Calibri"/>
              </a:rPr>
              <a:t>Code &amp; Evidence</a:t>
            </a:r>
          </a:p>
        </p:txBody>
      </p:sp>
      <p:sp>
        <p:nvSpPr>
          <p:cNvPr id="129" name="Rectangle 128">
            <a:extLst xmlns:a="http://schemas.openxmlformats.org/drawingml/2006/main">
              <a:ext uri="{FF2B5EF4-FFF2-40B4-BE49-F238E27FC236}">
                <a16:creationId xmlns:a16="http://schemas.microsoft.com/office/drawing/2014/main" id="{C21498A9-F383-445F-A553-5042BF88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28476000"/>
            <a:ext cx="1296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github.com/DID-FIELD/SDSC6002-SkinSmith</a:t>
            </a:r>
          </a:p>
        </p:txBody>
      </p:sp>
      <p:sp>
        <p:nvSpPr>
          <p:cNvPr id="130" name="Rectangle 129">
            <a:extLst xmlns:a="http://schemas.openxmlformats.org/drawingml/2006/main">
              <a:ext uri="{FF2B5EF4-FFF2-40B4-BE49-F238E27FC236}">
                <a16:creationId xmlns:a16="http://schemas.microsoft.com/office/drawing/2014/main" id="{8EA8CF48-323F-485C-92A6-3044B786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29016000"/>
            <a:ext cx="1296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100 automated tests · machine-readable logs · versioned exports</a:t>
            </a:r>
          </a:p>
        </p:txBody>
      </p:sp>
      <p:sp>
        <p:nvSpPr>
          <p:cNvPr id="131" name="Rectangle 130">
            <a:extLst xmlns:a="http://schemas.openxmlformats.org/drawingml/2006/main">
              <a:ext uri="{FF2B5EF4-FFF2-40B4-BE49-F238E27FC236}">
                <a16:creationId xmlns:a16="http://schemas.microsoft.com/office/drawing/2014/main" id="{14CBF818-2153-4754-B525-C6FDE416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2000" y="27972000"/>
            <a:ext cx="15840000" cy="21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SkinSmith</a:t>
            </a: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·  Constraint-Aware Generative Agent for Game Weapon Skin Design</a:t>
            </a:r>
          </a:p>
        </p:txBody>
      </p:sp>
      <p:sp>
        <p:nvSpPr>
          <p:cNvPr id="132" name="Rectangle 131">
            <a:extLst xmlns:a="http://schemas.openxmlformats.org/drawingml/2006/main">
              <a:ext uri="{FF2B5EF4-FFF2-40B4-BE49-F238E27FC236}">
                <a16:creationId xmlns:a16="http://schemas.microsoft.com/office/drawing/2014/main" id="{85E59BB2-64A1-4364-90E0-712657ED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2000" y="28656000"/>
            <a:ext cx="15840000" cy="21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0">
                <a:solidFill>
                  <a:srgbClr val="C99A35"/>
                </a:solidFill>
                <a:latin typeface="Calibri"/>
                <a:ea typeface="Calibri"/>
                <a:cs typeface="Calibri"/>
              </a:rPr>
              <a:t>City University of Hong Kong  ·  SDSC6002 Research Project</a:t>
            </a:r>
          </a:p>
        </p:txBody>
      </p:sp>
      <p:sp>
        <p:nvSpPr>
          <p:cNvPr id="133" name="Rectangle 132">
            <a:extLst xmlns:a="http://schemas.openxmlformats.org/drawingml/2006/main">
              <a:ext uri="{FF2B5EF4-FFF2-40B4-BE49-F238E27FC236}">
                <a16:creationId xmlns:a16="http://schemas.microsoft.com/office/drawing/2014/main" id="{6A38CBE8-F259-4CF7-9E4E-39320C62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8000" y="28044000"/>
            <a:ext cx="918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t"/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2400" b="1">
                <a:solidFill>
                  <a:srgbClr val="C99A35"/>
                </a:solidFill>
                <a:latin typeface="Calibri"/>
                <a:ea typeface="Calibri"/>
                <a:cs typeface="Calibri"/>
              </a:rPr>
              <a:t>Route B</a:t>
            </a:r>
          </a:p>
        </p:txBody>
      </p:sp>
      <p:sp>
        <p:nvSpPr>
          <p:cNvPr id="134" name="Rectangle 133">
            <a:extLst xmlns:a="http://schemas.openxmlformats.org/drawingml/2006/main">
              <a:ext uri="{FF2B5EF4-FFF2-40B4-BE49-F238E27FC236}">
                <a16:creationId xmlns:a16="http://schemas.microsoft.com/office/drawing/2014/main" id="{D373C050-8C77-4532-B0B1-BD99B743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8000" y="28872000"/>
            <a:ext cx="9180000" cy="1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43200" rIns="72000" bIns="43200" anchor="ctr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YUAN Ye 60089337  ·  CHEN Yuhong 59877861</a:t>
            </a:r>
          </a:p>
          <a:p xmlns:a="http://schemas.openxmlformats.org/drawingml/2006/main">
            <a:pPr algn="r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Ben Tangjie 59341974  ·  Wang Zhengye 59928724</a:t>
            </a:r>
          </a:p>
          <a:p xmlns:a="http://schemas.openxmlformats.org/drawingml/2006/main">
            <a:pPr algn="r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WANG Lihui 59252928  ·  Supervisor: Prof. Yu Yang</a:t>
            </a:r>
          </a:p>
        </p:txBody>
      </p:sp>
      <p:sp>
        <p:nvSpPr>
          <p:cNvPr id="136" name="Rectangle 125">
            <a:extLst xmlns:a="http://schemas.openxmlformats.org/drawingml/2006/main">
              <a:ext uri="{FF2B5EF4-FFF2-40B4-BE49-F238E27FC236}">
                <a16:creationId xmlns:a16="http://schemas.microsoft.com/office/drawing/2014/main" id="{B0B0D025-4259-EF32-BD85-6CAE953E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000" y="473244"/>
            <a:ext cx="42470763" cy="26839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B4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2000" tIns="54000" rIns="72000" bIns="5400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7" name="文本框 136">
            <a:extLst xmlns:a="http://schemas.openxmlformats.org/drawingml/2006/main">
              <a:ext uri="{FF2B5EF4-FFF2-40B4-BE49-F238E27FC236}">
                <a16:creationId xmlns:a16="http://schemas.microsoft.com/office/drawing/2014/main" id="{C77CC173-1631-AD7E-846B-3EF53427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000" y="1080000"/>
            <a:ext cx="22538340" cy="12003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SkinSmith</a:t>
            </a: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: A Constraint-Aware Generative Agent for Game Weapon Skin Design</a:t>
            </a:r>
          </a:p>
          <a:p xmlns:a="http://schemas.openxmlformats.org/drawingml/2006/main"/>
        </p:txBody>
      </p:sp>
      <p:sp>
        <p:nvSpPr>
          <p:cNvPr id="138" name="文本框 137">
            <a:extLst xmlns:a="http://schemas.openxmlformats.org/drawingml/2006/main">
              <a:ext uri="{FF2B5EF4-FFF2-40B4-BE49-F238E27FC236}">
                <a16:creationId xmlns:a16="http://schemas.microsoft.com/office/drawing/2014/main" id="{3F801928-D114-7966-3880-53B924F8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000" y="2072063"/>
            <a:ext cx="242902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Turn a single keyword (e.g. “dragon”) into a mapped, seam-compliant CS2 weapon texture — with three blocking human checkpoints.</a:t>
            </a:r>
          </a:p>
        </p:txBody>
      </p:sp>
      <p:pic>
        <p:nvPicPr>
          <p:cNvPr id="290" name="图片 1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24e5f5ed84151"/>
          <a:stretch xmlns:a="http://schemas.openxmlformats.org/drawingml/2006/main"/>
        </p:blipFill>
        <p:spPr>
          <a:xfrm xmlns:a="http://schemas.openxmlformats.org/drawingml/2006/main">
            <a:off x="14439124" y="5299692"/>
            <a:ext cx="13456577" cy="2206308"/>
          </a:xfrm>
          <a:prstGeom xmlns:a="http://schemas.openxmlformats.org/drawingml/2006/main" prst="rect">
            <a:avLst/>
          </a:prstGeom>
        </p:spPr>
      </p:pic>
      <p:pic>
        <p:nvPicPr>
          <p:cNvPr id="291" name="图片 14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52caf4f2a540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54343" y="10331617"/>
            <a:ext cx="4100425" cy="1224384"/>
          </a:xfrm>
          <a:prstGeom xmlns:a="http://schemas.openxmlformats.org/drawingml/2006/main" prst="rect">
            <a:avLst/>
          </a:prstGeom>
        </p:spPr>
      </p:pic>
      <p:pic>
        <p:nvPicPr>
          <p:cNvPr id="292" name="图片 14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20388b423245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09338" y="18771643"/>
            <a:ext cx="2182661" cy="1005842"/>
          </a:xfrm>
          <a:prstGeom xmlns:a="http://schemas.openxmlformats.org/drawingml/2006/main" prst="rect">
            <a:avLst/>
          </a:prstGeom>
        </p:spPr>
      </p:pic>
      <p:pic>
        <p:nvPicPr>
          <p:cNvPr id="293" name="图片 14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18042f07d44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14440" y="19568262"/>
            <a:ext cx="1455738" cy="1455738"/>
          </a:xfrm>
          <a:prstGeom xmlns:a="http://schemas.openxmlformats.org/drawingml/2006/main" prst="rect">
            <a:avLst/>
          </a:prstGeom>
        </p:spPr>
      </p:pic>
      <p:pic>
        <p:nvPicPr>
          <p:cNvPr id="294" name="图片 1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9ab23e245e48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54755" y="20380892"/>
            <a:ext cx="1975108" cy="197510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3362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2026-07-20T12:59:44.2620000Z</dcterms:created>
  <dcterms:modified xsi:type="dcterms:W3CDTF">2026-07-20T12:59:44.2620000Z</dcterms:modified>
</coreProperties>
</file>