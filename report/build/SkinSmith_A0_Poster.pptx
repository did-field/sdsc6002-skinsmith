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b1ef9d77f24f72" /><Relationship Type="http://schemas.openxmlformats.org/officeDocument/2006/relationships/extended-properties" Target="/docProps/app.xml" Id="Ra7bb466320d14f1a" /><Relationship Type="http://schemas.openxmlformats.org/officeDocument/2006/relationships/officeDocument" Target="/ppt/presentation.xml" Id="R3c81e56822fb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19f335ec7546a2"/>
  </p:sldMasterIdLst>
  <p:notesMasterIdLst>
    <p:notesMasterId xmlns:r="http://schemas.openxmlformats.org/officeDocument/2006/relationships" r:id="R1d6c6db065b443f5"/>
  </p:notesMasterIdLst>
  <p:sldIdLst>
    <p:sldId xmlns:r="http://schemas.openxmlformats.org/officeDocument/2006/relationships" id="256" r:id="R55b415f2f1a94803"/>
  </p:sldIdLst>
  <p:sldSz cx="42805350" cy="302799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c1986c3ea04dba" /><Relationship Type="http://schemas.openxmlformats.org/officeDocument/2006/relationships/slideMaster" Target="/ppt/slideMasters/slideMaster1.xml" Id="R7c19f335ec7546a2" /><Relationship Type="http://schemas.openxmlformats.org/officeDocument/2006/relationships/notesMaster" Target="/ppt/notesMasters/notesMaster1.xml" Id="R1d6c6db065b443f5" /><Relationship Type="http://schemas.openxmlformats.org/officeDocument/2006/relationships/presProps" Target="/ppt/presProps.xml" Id="R766e61a04bbc45f4" /><Relationship Type="http://schemas.openxmlformats.org/officeDocument/2006/relationships/tableStyles" Target="/ppt/tableStyles.xml" Id="Rb8b98d49f1f842de" /><Relationship Type="http://schemas.openxmlformats.org/officeDocument/2006/relationships/slide" Target="/ppt/slides/slide1.xml" Id="R55b415f2f1a948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db5a52b9842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ac8deecc9a4a2f" /><Relationship Type="http://schemas.openxmlformats.org/officeDocument/2006/relationships/notesMaster" Target="/ppt/notesMasters/notesMaster1.xml" Id="R85fc7575cf7a49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3e92c27374c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5369f5bcb24158" /><Relationship Type="http://schemas.openxmlformats.org/officeDocument/2006/relationships/slideLayout" Target="/ppt/slideLayouts/slideLayout1.xml" Id="Rc645a469268249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45a469268249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2a181acdc450c" /><Relationship Type="http://schemas.openxmlformats.org/officeDocument/2006/relationships/image" Target="/ppt/media/image.png" Id="R2a9f703c420443b7" /><Relationship Type="http://schemas.openxmlformats.org/officeDocument/2006/relationships/image" Target="/ppt/media/image2.png" Id="R0f733ab9605645cb" /><Relationship Type="http://schemas.openxmlformats.org/officeDocument/2006/relationships/image" Target="/ppt/media/image3.png" Id="R6cd3f7c5b6ed429a" /><Relationship Type="http://schemas.openxmlformats.org/officeDocument/2006/relationships/image" Target="/ppt/media/image4.png" Id="R680236a457c248c6" /><Relationship Type="http://schemas.openxmlformats.org/officeDocument/2006/relationships/image" Target="/ppt/media/image5.png" Id="R5cbab0ec31774fcb" /><Relationship Type="http://schemas.openxmlformats.org/officeDocument/2006/relationships/notesSlide" Target="/ppt/notesSlides/notesSlide1.xml" Id="R0d300bec6d20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header">
            <a:extLst xmlns:a="http://schemas.openxmlformats.org/drawingml/2006/main">
              <a:ext uri="{FF2B5EF4-FFF2-40B4-BE49-F238E27FC236}">
                <a16:creationId xmlns:a16="http://schemas.microsoft.com/office/drawing/2014/main" id="{3B7C1D76-E9CB-4720-AF7E-EA9C00A5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42875"/>
            <a:ext cx="425196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70"/>
          </a:solidFill>
          <a:ln xmlns:a="http://schemas.openxmlformats.org/drawingml/2006/main" w="47625">
            <a:solidFill>
              <a:srgbClr val="17345D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70547B-B507-47ED-A5B1-CC97D437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"/>
            <a:ext cx="40424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5D7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50" b="1">
                <a:solidFill>
                  <a:srgbClr val="F5D76E"/>
                </a:solidFill>
                <a:latin typeface="Times New Roman"/>
                <a:ea typeface="Times New Roman"/>
                <a:cs typeface="Times New Roman"/>
              </a:rPr>
              <a:t>SkinSmith: A Constraint-Aware Generative Agent for Game Weapon Skin Design</a:t>
            </a:r>
          </a:p>
        </p:txBody>
      </p:sp>
      <p:sp>
        <p:nvSpPr>
          <p:cNvPr id="3" name="registered">
            <a:extLst xmlns:a="http://schemas.openxmlformats.org/drawingml/2006/main">
              <a:ext uri="{FF2B5EF4-FFF2-40B4-BE49-F238E27FC236}">
                <a16:creationId xmlns:a16="http://schemas.microsoft.com/office/drawing/2014/main" id="{7B65F4DE-B769-48A8-89CA-F1AE42ED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62100"/>
            <a:ext cx="3709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Registered Project Topic: Latent Vision → Image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2FEAEA59-398B-476C-A0DB-DCBC135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3785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YUAN Ye¹ · CHEN Yuhong¹ · Ben Tangjie¹ · Wang Zhengye¹ · WANG Lihui¹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A36C8309-0EB8-4695-B771-F0A8F4A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37090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78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¹ Master of Science in Data Science, City University of Hong Kong</a:t>
            </a:r>
          </a:p>
        </p:txBody>
      </p:sp>
      <p:sp>
        <p:nvSpPr>
          <p:cNvPr id="6" name="supervisor">
            <a:extLst xmlns:a="http://schemas.openxmlformats.org/drawingml/2006/main">
              <a:ext uri="{FF2B5EF4-FFF2-40B4-BE49-F238E27FC236}">
                <a16:creationId xmlns:a16="http://schemas.microsoft.com/office/drawing/2014/main" id="{F503CFB8-25A7-4B34-AEB2-FE83A8DC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19450"/>
            <a:ext cx="386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Supervisor: Prof. Yu Yang    |    SDSC6002 Research Project    |    Repository: github.com/DID-FIELD/SDSC6002-SkinSmith</a:t>
            </a:r>
          </a:p>
        </p:txBody>
      </p:sp>
      <p:sp>
        <p:nvSpPr>
          <p:cNvPr id="7" name="intro-frame">
            <a:extLst xmlns:a="http://schemas.openxmlformats.org/drawingml/2006/main">
              <a:ext uri="{FF2B5EF4-FFF2-40B4-BE49-F238E27FC236}">
                <a16:creationId xmlns:a16="http://schemas.microsoft.com/office/drawing/2014/main" id="{DCB3E9A2-F8BD-4CF0-9D94-9B976C25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4156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45D"/>
            </a:solidFill>
            <a:prstDash val="solid"/>
          </a:ln>
        </p:spPr>
      </p:sp>
      <p:sp>
        <p:nvSpPr>
          <p:cNvPr id="8" name="intro-tab">
            <a:extLst xmlns:a="http://schemas.openxmlformats.org/drawingml/2006/main">
              <a:ext uri="{FF2B5EF4-FFF2-40B4-BE49-F238E27FC236}">
                <a16:creationId xmlns:a16="http://schemas.microsoft.com/office/drawing/2014/main" id="{B01BB8E8-2212-49E2-ACE8-CE0CE93D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  <a:ln xmlns:a="http://schemas.openxmlformats.org/drawingml/2006/main" w="28575">
            <a:solidFill>
              <a:srgbClr val="17345D"/>
            </a:solidFill>
            <a:prstDash val="solid"/>
          </a:ln>
        </p:spPr>
      </p:sp>
      <p:sp>
        <p:nvSpPr>
          <p:cNvPr id="9" name="intro-title">
            <a:extLst xmlns:a="http://schemas.openxmlformats.org/drawingml/2006/main">
              <a:ext uri="{FF2B5EF4-FFF2-40B4-BE49-F238E27FC236}">
                <a16:creationId xmlns:a16="http://schemas.microsoft.com/office/drawing/2014/main" id="{389EB5BE-B558-4676-AC28-10220BA2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958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10" name="intro-bg-dot">
            <a:extLst xmlns:a="http://schemas.openxmlformats.org/drawingml/2006/main">
              <a:ext uri="{FF2B5EF4-FFF2-40B4-BE49-F238E27FC236}">
                <a16:creationId xmlns:a16="http://schemas.microsoft.com/office/drawing/2014/main" id="{EC8ED382-E7CB-4E11-AC8C-6AA9707E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1" name="intro-bg-head">
            <a:extLst xmlns:a="http://schemas.openxmlformats.org/drawingml/2006/main">
              <a:ext uri="{FF2B5EF4-FFF2-40B4-BE49-F238E27FC236}">
                <a16:creationId xmlns:a16="http://schemas.microsoft.com/office/drawing/2014/main" id="{2B481B9E-9FC8-4379-896F-CC28A475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406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Background:</a:t>
            </a:r>
          </a:p>
        </p:txBody>
      </p:sp>
      <p:sp>
        <p:nvSpPr>
          <p:cNvPr id="12" name="intro-bg-body">
            <a:extLst xmlns:a="http://schemas.openxmlformats.org/drawingml/2006/main">
              <a:ext uri="{FF2B5EF4-FFF2-40B4-BE49-F238E27FC236}">
                <a16:creationId xmlns:a16="http://schemas.microsoft.com/office/drawing/2014/main" id="{DF5AE93F-ED65-400B-BFDA-F6FB91C1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19800"/>
            <a:ext cx="40652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A visually coherent source image can fail after UV mapping because the atlas fragments, rotates, and repacks the weapon surface. Source-only assessment can therefore hide internal seams, lost motifs, and poor top-view readability.</a:t>
            </a:r>
          </a:p>
        </p:txBody>
      </p:sp>
      <p:sp>
        <p:nvSpPr>
          <p:cNvPr id="13" name="intro-obj-dot">
            <a:extLst xmlns:a="http://schemas.openxmlformats.org/drawingml/2006/main">
              <a:ext uri="{FF2B5EF4-FFF2-40B4-BE49-F238E27FC236}">
                <a16:creationId xmlns:a16="http://schemas.microsoft.com/office/drawing/2014/main" id="{7B932926-4098-4100-9386-C656461A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intro-obj-head">
            <a:extLst xmlns:a="http://schemas.openxmlformats.org/drawingml/2006/main">
              <a:ext uri="{FF2B5EF4-FFF2-40B4-BE49-F238E27FC236}">
                <a16:creationId xmlns:a16="http://schemas.microsoft.com/office/drawing/2014/main" id="{8D31464F-7CFC-435F-BD8B-9BAE5433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67500"/>
            <a:ext cx="406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Objective:</a:t>
            </a:r>
          </a:p>
        </p:txBody>
      </p:sp>
      <p:sp>
        <p:nvSpPr>
          <p:cNvPr id="15" name="intro-obj-body">
            <a:extLst xmlns:a="http://schemas.openxmlformats.org/drawingml/2006/main">
              <a:ext uri="{FF2B5EF4-FFF2-40B4-BE49-F238E27FC236}">
                <a16:creationId xmlns:a16="http://schemas.microsoft.com/office/drawing/2014/main" id="{3B8BAFC2-84A1-4975-A6D0-E524AFF7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067550"/>
            <a:ext cx="406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Develop and evaluate a complete image-processing/generation Agent that converts one short theme keyword into a human-selected, constraint-valid game-asset texture through three explicit checkpoints.</a:t>
            </a:r>
          </a:p>
        </p:txBody>
      </p:sp>
      <p:sp>
        <p:nvSpPr>
          <p:cNvPr id="16" name="method-frame">
            <a:extLst xmlns:a="http://schemas.openxmlformats.org/drawingml/2006/main">
              <a:ext uri="{FF2B5EF4-FFF2-40B4-BE49-F238E27FC236}">
                <a16:creationId xmlns:a16="http://schemas.microsoft.com/office/drawing/2014/main" id="{ABE5664E-56A7-42F1-8B83-BE84306D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239125"/>
            <a:ext cx="26003250" cy="1095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45D"/>
            </a:solidFill>
            <a:prstDash val="solid"/>
          </a:ln>
        </p:spPr>
      </p:sp>
      <p:sp>
        <p:nvSpPr>
          <p:cNvPr id="17" name="method-tab">
            <a:extLst xmlns:a="http://schemas.openxmlformats.org/drawingml/2006/main">
              <a:ext uri="{FF2B5EF4-FFF2-40B4-BE49-F238E27FC236}">
                <a16:creationId xmlns:a16="http://schemas.microsoft.com/office/drawing/2014/main" id="{6F86964F-B6FA-4D8D-8B3F-39C9165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239125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  <a:ln xmlns:a="http://schemas.openxmlformats.org/drawingml/2006/main" w="28575">
            <a:solidFill>
              <a:srgbClr val="17345D"/>
            </a:solidFill>
            <a:prstDash val="solid"/>
          </a:ln>
        </p:spPr>
      </p:sp>
      <p:sp>
        <p:nvSpPr>
          <p:cNvPr id="18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9D14BAD2-70EE-4D96-B189-09740860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83153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Methodology</a:t>
            </a:r>
          </a:p>
        </p:txBody>
      </p:sp>
      <p:sp>
        <p:nvSpPr>
          <p:cNvPr id="19" name="method-intro">
            <a:extLst xmlns:a="http://schemas.openxmlformats.org/drawingml/2006/main">
              <a:ext uri="{FF2B5EF4-FFF2-40B4-BE49-F238E27FC236}">
                <a16:creationId xmlns:a16="http://schemas.microsoft.com/office/drawing/2014/main" id="{AC1A8A70-A085-4239-AE68-79E20ED6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239250"/>
            <a:ext cx="2495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The proposed workflow combines semantic planning, human checkpoints, asset-aware generation, render-in-the-loop evaluation, and one bounded correction with rollback.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f703c420443b7"/>
          <a:stretch xmlns:a="http://schemas.openxmlformats.org/drawingml/2006/main"/>
        </p:blipFill>
        <p:spPr>
          <a:xfrm xmlns:a="http://schemas.openxmlformats.org/drawingml/2006/main">
            <a:off x="2252870" y="10287000"/>
            <a:ext cx="22735761" cy="5810250"/>
          </a:xfrm>
          <a:prstGeom xmlns:a="http://schemas.openxmlformats.org/drawingml/2006/main" prst="rect">
            <a:avLst/>
          </a:prstGeom>
        </p:spPr>
      </p:pic>
      <p:sp>
        <p:nvSpPr>
          <p:cNvPr id="21" name="method-cap">
            <a:extLst xmlns:a="http://schemas.openxmlformats.org/drawingml/2006/main">
              <a:ext uri="{FF2B5EF4-FFF2-40B4-BE49-F238E27FC236}">
                <a16:creationId xmlns:a16="http://schemas.microsoft.com/office/drawing/2014/main" id="{230424C4-8BD2-460E-9074-BA860FF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097250"/>
            <a:ext cx="2447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Figure 1. Continuous weapon-space composition → authoritative UV atlas → reconstructed 3D weapon.</a:t>
            </a:r>
          </a:p>
        </p:txBody>
      </p:sp>
      <p:sp>
        <p:nvSpPr>
          <p:cNvPr id="22" name="method-a-dot">
            <a:extLst xmlns:a="http://schemas.openxmlformats.org/drawingml/2006/main">
              <a:ext uri="{FF2B5EF4-FFF2-40B4-BE49-F238E27FC236}">
                <a16:creationId xmlns:a16="http://schemas.microsoft.com/office/drawing/2014/main" id="{C71281CD-CB8D-45F4-9735-69FEEF3D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7640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3" name="method-a-head">
            <a:extLst xmlns:a="http://schemas.openxmlformats.org/drawingml/2006/main">
              <a:ext uri="{FF2B5EF4-FFF2-40B4-BE49-F238E27FC236}">
                <a16:creationId xmlns:a16="http://schemas.microsoft.com/office/drawing/2014/main" id="{125DEDDD-9FF2-4B2B-A500-8025F57B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6764000"/>
            <a:ext cx="7410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Route A — PatternDesigner:</a:t>
            </a:r>
          </a:p>
        </p:txBody>
      </p:sp>
      <p:sp>
        <p:nvSpPr>
          <p:cNvPr id="24" name="method-a-body">
            <a:extLst xmlns:a="http://schemas.openxmlformats.org/drawingml/2006/main">
              <a:ext uri="{FF2B5EF4-FFF2-40B4-BE49-F238E27FC236}">
                <a16:creationId xmlns:a16="http://schemas.microsoft.com/office/drawing/2014/main" id="{455100D7-B7D6-443B-807A-9C9A8552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7164050"/>
            <a:ext cx="7410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39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A deterministic or generated tileable pattern baseline with periodic-boundary repair.</a:t>
            </a:r>
          </a:p>
        </p:txBody>
      </p:sp>
      <p:sp>
        <p:nvSpPr>
          <p:cNvPr id="25" name="method-b-dot">
            <a:extLst xmlns:a="http://schemas.openxmlformats.org/drawingml/2006/main">
              <a:ext uri="{FF2B5EF4-FFF2-40B4-BE49-F238E27FC236}">
                <a16:creationId xmlns:a16="http://schemas.microsoft.com/office/drawing/2014/main" id="{83E59CE3-F114-4587-80DA-94839F60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6" name="method-b-head">
            <a:extLst xmlns:a="http://schemas.openxmlformats.org/drawingml/2006/main">
              <a:ext uri="{FF2B5EF4-FFF2-40B4-BE49-F238E27FC236}">
                <a16:creationId xmlns:a16="http://schemas.microsoft.com/office/drawing/2014/main" id="{9D8B8336-FCDA-4765-9552-47C0AC83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764000"/>
            <a:ext cx="7696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Route B — WeaponThemeDesigner:</a:t>
            </a:r>
          </a:p>
        </p:txBody>
      </p:sp>
      <p:sp>
        <p:nvSpPr>
          <p:cNvPr id="27" name="method-b-body">
            <a:extLst xmlns:a="http://schemas.openxmlformats.org/drawingml/2006/main">
              <a:ext uri="{FF2B5EF4-FFF2-40B4-BE49-F238E27FC236}">
                <a16:creationId xmlns:a16="http://schemas.microsoft.com/office/drawing/2014/main" id="{5A4C5161-9FDA-4B77-9550-EC949247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7164050"/>
            <a:ext cx="76962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39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One dense master artwork is fitted in continuous weapon space and baked through OBJ-derived UV maps.</a:t>
            </a:r>
          </a:p>
        </p:txBody>
      </p:sp>
      <p:sp>
        <p:nvSpPr>
          <p:cNvPr id="28" name="method-c-dot">
            <a:extLst xmlns:a="http://schemas.openxmlformats.org/drawingml/2006/main">
              <a:ext uri="{FF2B5EF4-FFF2-40B4-BE49-F238E27FC236}">
                <a16:creationId xmlns:a16="http://schemas.microsoft.com/office/drawing/2014/main" id="{76C9C28F-B0F0-48B4-9315-3C0A86F9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75" y="167640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9" name="method-c-head">
            <a:extLst xmlns:a="http://schemas.openxmlformats.org/drawingml/2006/main">
              <a:ext uri="{FF2B5EF4-FFF2-40B4-BE49-F238E27FC236}">
                <a16:creationId xmlns:a16="http://schemas.microsoft.com/office/drawing/2014/main" id="{C4457314-D861-4A21-80E3-78AFA7C4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25" y="16764000"/>
            <a:ext cx="7410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Route C — Bounded refinement:</a:t>
            </a:r>
          </a:p>
        </p:txBody>
      </p:sp>
      <p:sp>
        <p:nvSpPr>
          <p:cNvPr id="30" name="method-c-body">
            <a:extLst xmlns:a="http://schemas.openxmlformats.org/drawingml/2006/main">
              <a:ext uri="{FF2B5EF4-FFF2-40B4-BE49-F238E27FC236}">
                <a16:creationId xmlns:a16="http://schemas.microsoft.com/office/drawing/2014/main" id="{AB8751F0-2AB1-4833-9029-378A1CD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9925" y="17164050"/>
            <a:ext cx="74104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39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A render-conditioned local action is accepted only when hard constraints pass and the locked score improves.</a:t>
            </a:r>
          </a:p>
        </p:txBody>
      </p:sp>
      <p:sp>
        <p:nvSpPr>
          <p:cNvPr id="31" name="agent-frame">
            <a:extLst xmlns:a="http://schemas.openxmlformats.org/drawingml/2006/main">
              <a:ext uri="{FF2B5EF4-FFF2-40B4-BE49-F238E27FC236}">
                <a16:creationId xmlns:a16="http://schemas.microsoft.com/office/drawing/2014/main" id="{7E8DA9F8-D765-40BE-9E0A-F976D62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0" y="8239125"/>
            <a:ext cx="15230475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45D"/>
            </a:solidFill>
            <a:prstDash val="solid"/>
          </a:ln>
        </p:spPr>
      </p:sp>
      <p:sp>
        <p:nvSpPr>
          <p:cNvPr id="32" name="agent-tab">
            <a:extLst xmlns:a="http://schemas.openxmlformats.org/drawingml/2006/main">
              <a:ext uri="{FF2B5EF4-FFF2-40B4-BE49-F238E27FC236}">
                <a16:creationId xmlns:a16="http://schemas.microsoft.com/office/drawing/2014/main" id="{A91014C9-18EB-4A28-B592-6A0E3CB8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0" y="8239125"/>
            <a:ext cx="6701409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  <a:ln xmlns:a="http://schemas.openxmlformats.org/drawingml/2006/main" w="28575">
            <a:solidFill>
              <a:srgbClr val="17345D"/>
            </a:solidFill>
            <a:prstDash val="solid"/>
          </a:ln>
        </p:spPr>
      </p:sp>
      <p:sp>
        <p:nvSpPr>
          <p:cNvPr id="3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E50B36CC-9700-4B57-A1F4-F206CA57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450" y="8315325"/>
            <a:ext cx="639679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Human–Agent Checkpoints</a:t>
            </a:r>
          </a:p>
        </p:txBody>
      </p:sp>
      <p:sp>
        <p:nvSpPr>
          <p:cNvPr id="34" name="cp1-dot">
            <a:extLst xmlns:a="http://schemas.openxmlformats.org/drawingml/2006/main">
              <a:ext uri="{FF2B5EF4-FFF2-40B4-BE49-F238E27FC236}">
                <a16:creationId xmlns:a16="http://schemas.microsoft.com/office/drawing/2014/main" id="{3FE3FB27-D27B-40AF-AD92-5E50938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0" y="928687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5" name="cp1-head">
            <a:extLst xmlns:a="http://schemas.openxmlformats.org/drawingml/2006/main">
              <a:ext uri="{FF2B5EF4-FFF2-40B4-BE49-F238E27FC236}">
                <a16:creationId xmlns:a16="http://schemas.microsoft.com/office/drawing/2014/main" id="{35D4D8D8-90FB-442A-B2A5-D61492D7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9286875"/>
            <a:ext cx="1391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Checkpoint 1 — Theme world:</a:t>
            </a:r>
          </a:p>
        </p:txBody>
      </p:sp>
      <p:sp>
        <p:nvSpPr>
          <p:cNvPr id="36" name="cp1-body">
            <a:extLst xmlns:a="http://schemas.openxmlformats.org/drawingml/2006/main">
              <a:ext uri="{FF2B5EF4-FFF2-40B4-BE49-F238E27FC236}">
                <a16:creationId xmlns:a16="http://schemas.microsoft.com/office/drawing/2014/main" id="{97BECCC5-62E7-4961-A00B-FA73AF48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9686925"/>
            <a:ext cx="139160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Select a weapon and enter one keyword. Confirm or edit subjects, symbols, materials, palette, atmosphere, and prohibited content.</a:t>
            </a:r>
          </a:p>
        </p:txBody>
      </p:sp>
      <p:sp>
        <p:nvSpPr>
          <p:cNvPr id="37" name="cp2-dot">
            <a:extLst xmlns:a="http://schemas.openxmlformats.org/drawingml/2006/main">
              <a:ext uri="{FF2B5EF4-FFF2-40B4-BE49-F238E27FC236}">
                <a16:creationId xmlns:a16="http://schemas.microsoft.com/office/drawing/2014/main" id="{34077747-617C-40F8-B82E-3C597EA3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0" y="106680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8" name="cp2-head">
            <a:extLst xmlns:a="http://schemas.openxmlformats.org/drawingml/2006/main">
              <a:ext uri="{FF2B5EF4-FFF2-40B4-BE49-F238E27FC236}">
                <a16:creationId xmlns:a16="http://schemas.microsoft.com/office/drawing/2014/main" id="{37F53835-DC61-4089-9D1B-735080B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0668000"/>
            <a:ext cx="1391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Checkpoint 2 — Art direction:</a:t>
            </a:r>
          </a:p>
        </p:txBody>
      </p:sp>
      <p:sp>
        <p:nvSpPr>
          <p:cNvPr id="39" name="cp2-body">
            <a:extLst xmlns:a="http://schemas.openxmlformats.org/drawingml/2006/main">
              <a:ext uri="{FF2B5EF4-FFF2-40B4-BE49-F238E27FC236}">
                <a16:creationId xmlns:a16="http://schemas.microsoft.com/office/drawing/2014/main" id="{94D82FE8-73B9-4A45-8FF5-2973F3C3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1068050"/>
            <a:ext cx="13916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Choose one of 3–4 materially different textual directions before image generation.</a:t>
            </a:r>
          </a:p>
        </p:txBody>
      </p:sp>
      <p:sp>
        <p:nvSpPr>
          <p:cNvPr id="40" name="cp3-dot">
            <a:extLst xmlns:a="http://schemas.openxmlformats.org/drawingml/2006/main">
              <a:ext uri="{FF2B5EF4-FFF2-40B4-BE49-F238E27FC236}">
                <a16:creationId xmlns:a16="http://schemas.microsoft.com/office/drawing/2014/main" id="{E70A9DD5-F228-436F-97DE-8BD029D3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0" y="1190625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41" name="cp3-head">
            <a:extLst xmlns:a="http://schemas.openxmlformats.org/drawingml/2006/main">
              <a:ext uri="{FF2B5EF4-FFF2-40B4-BE49-F238E27FC236}">
                <a16:creationId xmlns:a16="http://schemas.microsoft.com/office/drawing/2014/main" id="{D1A82850-0046-463D-B9FE-1335D730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1906250"/>
            <a:ext cx="1391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Checkpoint 3 — Mapped artwork:</a:t>
            </a:r>
          </a:p>
        </p:txBody>
      </p:sp>
      <p:sp>
        <p:nvSpPr>
          <p:cNvPr id="42" name="cp3-body">
            <a:extLst xmlns:a="http://schemas.openxmlformats.org/drawingml/2006/main">
              <a:ext uri="{FF2B5EF4-FFF2-40B4-BE49-F238E27FC236}">
                <a16:creationId xmlns:a16="http://schemas.microsoft.com/office/drawing/2014/main" id="{AB5B1D6B-DE39-451A-9C24-40C6E02F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2306300"/>
            <a:ext cx="139160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Choose one source + left/right/top candidate card. Model review is recommendation-only; the human decision is authoritative.</a:t>
            </a:r>
          </a:p>
        </p:txBody>
      </p:sp>
      <p:sp>
        <p:nvSpPr>
          <p:cNvPr id="43" name="setup-frame">
            <a:extLst xmlns:a="http://schemas.openxmlformats.org/drawingml/2006/main">
              <a:ext uri="{FF2B5EF4-FFF2-40B4-BE49-F238E27FC236}">
                <a16:creationId xmlns:a16="http://schemas.microsoft.com/office/drawing/2014/main" id="{703A5893-1142-4641-AA47-044A9004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0" y="14430375"/>
            <a:ext cx="152304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45D"/>
            </a:solidFill>
            <a:prstDash val="solid"/>
          </a:ln>
        </p:spPr>
      </p:sp>
      <p:sp>
        <p:nvSpPr>
          <p:cNvPr id="44" name="setup-tab">
            <a:extLst xmlns:a="http://schemas.openxmlformats.org/drawingml/2006/main">
              <a:ext uri="{FF2B5EF4-FFF2-40B4-BE49-F238E27FC236}">
                <a16:creationId xmlns:a16="http://schemas.microsoft.com/office/drawing/2014/main" id="{AD18C6C6-889E-4F30-9F38-A38FE8A5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0" y="14430375"/>
            <a:ext cx="6701409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  <a:ln xmlns:a="http://schemas.openxmlformats.org/drawingml/2006/main" w="28575">
            <a:solidFill>
              <a:srgbClr val="17345D"/>
            </a:solidFill>
            <a:prstDash val="solid"/>
          </a:ln>
        </p:spPr>
      </p:sp>
      <p:sp>
        <p:nvSpPr>
          <p:cNvPr id="45" name="setup-title">
            <a:extLst xmlns:a="http://schemas.openxmlformats.org/drawingml/2006/main">
              <a:ext uri="{FF2B5EF4-FFF2-40B4-BE49-F238E27FC236}">
                <a16:creationId xmlns:a16="http://schemas.microsoft.com/office/drawing/2014/main" id="{9E48AD48-7542-442E-8870-DCF1B95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450" y="14506575"/>
            <a:ext cx="6396799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Experimental Setup</a:t>
            </a:r>
          </a:p>
        </p:txBody>
      </p:sp>
      <p:sp>
        <p:nvSpPr>
          <p:cNvPr id="46" name="setup-data-dot">
            <a:extLst xmlns:a="http://schemas.openxmlformats.org/drawingml/2006/main">
              <a:ext uri="{FF2B5EF4-FFF2-40B4-BE49-F238E27FC236}">
                <a16:creationId xmlns:a16="http://schemas.microsoft.com/office/drawing/2014/main" id="{1E389AB8-B48A-45E7-93E1-31E51174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0" y="1547812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47" name="setup-data-head">
            <a:extLst xmlns:a="http://schemas.openxmlformats.org/drawingml/2006/main">
              <a:ext uri="{FF2B5EF4-FFF2-40B4-BE49-F238E27FC236}">
                <a16:creationId xmlns:a16="http://schemas.microsoft.com/office/drawing/2014/main" id="{3F96336E-AD7F-440E-A4D1-3B71AFD8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5478125"/>
            <a:ext cx="1391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Case assets:</a:t>
            </a:r>
          </a:p>
        </p:txBody>
      </p:sp>
      <p:sp>
        <p:nvSpPr>
          <p:cNvPr id="48" name="setup-data-body">
            <a:extLst xmlns:a="http://schemas.openxmlformats.org/drawingml/2006/main">
              <a:ext uri="{FF2B5EF4-FFF2-40B4-BE49-F238E27FC236}">
                <a16:creationId xmlns:a16="http://schemas.microsoft.com/office/drawing/2014/main" id="{35677593-08F7-477D-8DEE-047E2EB5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5878175"/>
            <a:ext cx="13916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AK-47 complete end-to-end case; M4A4 adapter transfer case.</a:t>
            </a:r>
          </a:p>
        </p:txBody>
      </p:sp>
      <p:sp>
        <p:nvSpPr>
          <p:cNvPr id="49" name="setup-metrics-dot">
            <a:extLst xmlns:a="http://schemas.openxmlformats.org/drawingml/2006/main">
              <a:ext uri="{FF2B5EF4-FFF2-40B4-BE49-F238E27FC236}">
                <a16:creationId xmlns:a16="http://schemas.microsoft.com/office/drawing/2014/main" id="{8AF3CF0F-C190-4697-B6E0-E1B4847E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0" y="1643062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0" name="setup-metrics-head">
            <a:extLst xmlns:a="http://schemas.openxmlformats.org/drawingml/2006/main">
              <a:ext uri="{FF2B5EF4-FFF2-40B4-BE49-F238E27FC236}">
                <a16:creationId xmlns:a16="http://schemas.microsoft.com/office/drawing/2014/main" id="{289CF315-1227-4EE9-96CD-AE56C555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6430625"/>
            <a:ext cx="1391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Primary metrics:</a:t>
            </a:r>
          </a:p>
        </p:txBody>
      </p:sp>
      <p:sp>
        <p:nvSpPr>
          <p:cNvPr id="51" name="setup-metrics-body">
            <a:extLst xmlns:a="http://schemas.openxmlformats.org/drawingml/2006/main">
              <a:ext uri="{FF2B5EF4-FFF2-40B4-BE49-F238E27FC236}">
                <a16:creationId xmlns:a16="http://schemas.microsoft.com/office/drawing/2014/main" id="{94EF0EE8-A659-40E9-B2ED-8FA57387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6830675"/>
            <a:ext cx="13916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Asset-seam error, multi-view score, texture score, feasibility thresholds, locality, and rollback decision.</a:t>
            </a:r>
          </a:p>
        </p:txBody>
      </p:sp>
      <p:sp>
        <p:nvSpPr>
          <p:cNvPr id="52" name="setup-design-dot">
            <a:extLst xmlns:a="http://schemas.openxmlformats.org/drawingml/2006/main">
              <a:ext uri="{FF2B5EF4-FFF2-40B4-BE49-F238E27FC236}">
                <a16:creationId xmlns:a16="http://schemas.microsoft.com/office/drawing/2014/main" id="{C8F8E40F-B8FF-46D2-B5F0-2FE2D0E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950" y="1757362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" name="setup-design-head">
            <a:extLst xmlns:a="http://schemas.openxmlformats.org/drawingml/2006/main">
              <a:ext uri="{FF2B5EF4-FFF2-40B4-BE49-F238E27FC236}">
                <a16:creationId xmlns:a16="http://schemas.microsoft.com/office/drawing/2014/main" id="{3B060619-999D-42A8-891D-339F305A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7573625"/>
            <a:ext cx="13916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Evaluation design:</a:t>
            </a:r>
          </a:p>
        </p:txBody>
      </p:sp>
      <p:sp>
        <p:nvSpPr>
          <p:cNvPr id="54" name="setup-design-body">
            <a:extLst xmlns:a="http://schemas.openxmlformats.org/drawingml/2006/main">
              <a:ext uri="{FF2B5EF4-FFF2-40B4-BE49-F238E27FC236}">
                <a16:creationId xmlns:a16="http://schemas.microsoft.com/office/drawing/2014/main" id="{33C73492-7A11-44CE-BB42-3ED8E9E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0" y="17973675"/>
            <a:ext cx="13916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Four paired Route A/B candidates; edge-width and selection-policy sub-ablation; preserved live Gemini run.</a:t>
            </a:r>
          </a:p>
        </p:txBody>
      </p:sp>
      <p:sp>
        <p:nvSpPr>
          <p:cNvPr id="55" name="results-frame">
            <a:extLst xmlns:a="http://schemas.openxmlformats.org/drawingml/2006/main">
              <a:ext uri="{FF2B5EF4-FFF2-40B4-BE49-F238E27FC236}">
                <a16:creationId xmlns:a16="http://schemas.microsoft.com/office/drawing/2014/main" id="{158EF62F-2315-4FB4-B38A-CE5A1A8A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78625"/>
            <a:ext cx="415671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45D"/>
            </a:solidFill>
            <a:prstDash val="solid"/>
          </a:ln>
        </p:spPr>
      </p:sp>
      <p:sp>
        <p:nvSpPr>
          <p:cNvPr id="56" name="results-tab">
            <a:extLst xmlns:a="http://schemas.openxmlformats.org/drawingml/2006/main">
              <a:ext uri="{FF2B5EF4-FFF2-40B4-BE49-F238E27FC236}">
                <a16:creationId xmlns:a16="http://schemas.microsoft.com/office/drawing/2014/main" id="{6907374E-0827-4BEA-9836-E8223E9E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78625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  <a:ln xmlns:a="http://schemas.openxmlformats.org/drawingml/2006/main" w="28575">
            <a:solidFill>
              <a:srgbClr val="17345D"/>
            </a:solidFill>
            <a:prstDash val="solid"/>
          </a:ln>
        </p:spPr>
      </p:sp>
      <p:sp>
        <p:nvSpPr>
          <p:cNvPr id="57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02D9ADB2-AB0B-414B-988B-C0A602BB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5548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Results &amp; Analysis</a:t>
            </a:r>
          </a:p>
        </p:txBody>
      </p:sp>
      <p:sp>
        <p:nvSpPr>
          <p:cNvPr id="58" name="res1-dot">
            <a:extLst xmlns:a="http://schemas.openxmlformats.org/drawingml/2006/main">
              <a:ext uri="{FF2B5EF4-FFF2-40B4-BE49-F238E27FC236}">
                <a16:creationId xmlns:a16="http://schemas.microsoft.com/office/drawing/2014/main" id="{1173286B-ECF4-4B8B-BF2A-32AB30E7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2162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9" name="res1-head">
            <a:extLst xmlns:a="http://schemas.openxmlformats.org/drawingml/2006/main">
              <a:ext uri="{FF2B5EF4-FFF2-40B4-BE49-F238E27FC236}">
                <a16:creationId xmlns:a16="http://schemas.microsoft.com/office/drawing/2014/main" id="{A42904DE-D83E-4592-B11C-6C4C2157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621625"/>
            <a:ext cx="11791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Superior asset feasibility:</a:t>
            </a:r>
          </a:p>
        </p:txBody>
      </p:sp>
      <p:sp>
        <p:nvSpPr>
          <p:cNvPr id="60" name="res1-body">
            <a:extLst xmlns:a="http://schemas.openxmlformats.org/drawingml/2006/main">
              <a:ext uri="{FF2B5EF4-FFF2-40B4-BE49-F238E27FC236}">
                <a16:creationId xmlns:a16="http://schemas.microsoft.com/office/drawing/2014/main" id="{BE6DCC13-85D8-4E15-9A9D-74EDDE9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021675"/>
            <a:ext cx="11791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Route B reduced mean asset-seam error from 0.26997 to 0.00063 — a 99.77% reduction — and every paired candidate passed the 0.01 threshold.</a:t>
            </a:r>
          </a:p>
        </p:txBody>
      </p:sp>
      <p:sp>
        <p:nvSpPr>
          <p:cNvPr id="61" name="res2-dot">
            <a:extLst xmlns:a="http://schemas.openxmlformats.org/drawingml/2006/main">
              <a:ext uri="{FF2B5EF4-FFF2-40B4-BE49-F238E27FC236}">
                <a16:creationId xmlns:a16="http://schemas.microsoft.com/office/drawing/2014/main" id="{FF400E49-D16D-495F-B0A1-81972DE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5037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62" name="res2-head">
            <a:extLst xmlns:a="http://schemas.openxmlformats.org/drawingml/2006/main">
              <a:ext uri="{FF2B5EF4-FFF2-40B4-BE49-F238E27FC236}">
                <a16:creationId xmlns:a16="http://schemas.microsoft.com/office/drawing/2014/main" id="{8E2D228D-7890-4468-B0CD-0DC10D85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50375"/>
            <a:ext cx="11791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Mapped-view improvement:</a:t>
            </a:r>
          </a:p>
        </p:txBody>
      </p:sp>
      <p:sp>
        <p:nvSpPr>
          <p:cNvPr id="63" name="res2-body">
            <a:extLst xmlns:a="http://schemas.openxmlformats.org/drawingml/2006/main">
              <a:ext uri="{FF2B5EF4-FFF2-40B4-BE49-F238E27FC236}">
                <a16:creationId xmlns:a16="http://schemas.microsoft.com/office/drawing/2014/main" id="{A2FE848B-EF7D-4132-AF23-471E0A38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50425"/>
            <a:ext cx="11791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Mean multi-view score increased from 0.76898 to 0.82911 (+0.060); all 4/4 paired candidates improved both primary outcomes.</a:t>
            </a:r>
          </a:p>
        </p:txBody>
      </p:sp>
      <p:sp>
        <p:nvSpPr>
          <p:cNvPr id="64" name="res3-dot">
            <a:extLst xmlns:a="http://schemas.openxmlformats.org/drawingml/2006/main">
              <a:ext uri="{FF2B5EF4-FFF2-40B4-BE49-F238E27FC236}">
                <a16:creationId xmlns:a16="http://schemas.microsoft.com/office/drawing/2014/main" id="{ECAC857D-EE8D-4A4D-9F7D-B9094AB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65" name="res3-head">
            <a:extLst xmlns:a="http://schemas.openxmlformats.org/drawingml/2006/main">
              <a:ext uri="{FF2B5EF4-FFF2-40B4-BE49-F238E27FC236}">
                <a16:creationId xmlns:a16="http://schemas.microsoft.com/office/drawing/2014/main" id="{3A29C926-6338-45C1-803D-C6A98E58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0"/>
            <a:ext cx="11791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Constraint-first selection:</a:t>
            </a:r>
          </a:p>
        </p:txBody>
      </p:sp>
      <p:sp>
        <p:nvSpPr>
          <p:cNvPr id="66" name="res3-body">
            <a:extLst xmlns:a="http://schemas.openxmlformats.org/drawingml/2006/main">
              <a:ext uri="{FF2B5EF4-FFF2-40B4-BE49-F238E27FC236}">
                <a16:creationId xmlns:a16="http://schemas.microsoft.com/office/drawing/2014/main" id="{DBE871C1-E930-4951-8811-49D19CC5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31550"/>
            <a:ext cx="11791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A weighted score chose 4 px despite a seam violation. Constraint-first + Pareto selected the first jointly feasible point at 8 px.</a:t>
            </a:r>
          </a:p>
        </p:txBody>
      </p:sp>
      <p:sp>
        <p:nvSpPr>
          <p:cNvPr id="67" name="res4-dot">
            <a:extLst xmlns:a="http://schemas.openxmlformats.org/drawingml/2006/main">
              <a:ext uri="{FF2B5EF4-FFF2-40B4-BE49-F238E27FC236}">
                <a16:creationId xmlns:a16="http://schemas.microsoft.com/office/drawing/2014/main" id="{0C10F583-DA92-4050-967F-75C5CA5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0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68" name="res4-head">
            <a:extLst xmlns:a="http://schemas.openxmlformats.org/drawingml/2006/main">
              <a:ext uri="{FF2B5EF4-FFF2-40B4-BE49-F238E27FC236}">
                <a16:creationId xmlns:a16="http://schemas.microsoft.com/office/drawing/2014/main" id="{73B5C35C-B192-4AB5-840C-61892A2D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0"/>
            <a:ext cx="11791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Safe rollback:</a:t>
            </a:r>
          </a:p>
        </p:txBody>
      </p:sp>
      <p:sp>
        <p:nvSpPr>
          <p:cNvPr id="69" name="res4-body">
            <a:extLst xmlns:a="http://schemas.openxmlformats.org/drawingml/2006/main">
              <a:ext uri="{FF2B5EF4-FFF2-40B4-BE49-F238E27FC236}">
                <a16:creationId xmlns:a16="http://schemas.microsoft.com/office/drawing/2014/main" id="{72DB7C6D-8C94-46CF-8645-EAA68558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260300"/>
            <a:ext cx="11791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4E5965"/>
                </a:solidFill>
                <a:latin typeface="Times New Roman"/>
                <a:ea typeface="Times New Roman"/>
                <a:cs typeface="Times New Roman"/>
              </a:rPr>
              <a:t>The live Route C correction reduced score by 0.02196, so the Agent retained Route B rather than presenting a harmful refinement.</a:t>
            </a:r>
          </a:p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33ab9605645cb"/>
          <a:stretch xmlns:a="http://schemas.openxmlformats.org/drawingml/2006/main"/>
        </p:blipFill>
        <p:spPr>
          <a:xfrm xmlns:a="http://schemas.openxmlformats.org/drawingml/2006/main">
            <a:off x="13811250" y="21665406"/>
            <a:ext cx="6191250" cy="1341438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3f7c5b6ed429a"/>
          <a:stretch xmlns:a="http://schemas.openxmlformats.org/drawingml/2006/main"/>
        </p:blipFill>
        <p:spPr>
          <a:xfrm xmlns:a="http://schemas.openxmlformats.org/drawingml/2006/main">
            <a:off x="20383500" y="21665406"/>
            <a:ext cx="6191250" cy="1341438"/>
          </a:xfrm>
          <a:prstGeom xmlns:a="http://schemas.openxmlformats.org/drawingml/2006/main" prst="rect">
            <a:avLst/>
          </a:prstGeom>
        </p:spPr>
      </p:pic>
      <p:sp>
        <p:nvSpPr>
          <p:cNvPr id="72" name="route-a-cap">
            <a:extLst xmlns:a="http://schemas.openxmlformats.org/drawingml/2006/main">
              <a:ext uri="{FF2B5EF4-FFF2-40B4-BE49-F238E27FC236}">
                <a16:creationId xmlns:a16="http://schemas.microsoft.com/office/drawing/2014/main" id="{DB556027-FDF9-4AD8-A13A-F034007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3907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Figure 2a. Route A pattern-first baseline.</a:t>
            </a:r>
          </a:p>
        </p:txBody>
      </p:sp>
      <p:sp>
        <p:nvSpPr>
          <p:cNvPr id="73" name="route-b-cap">
            <a:extLst xmlns:a="http://schemas.openxmlformats.org/drawingml/2006/main">
              <a:ext uri="{FF2B5EF4-FFF2-40B4-BE49-F238E27FC236}">
                <a16:creationId xmlns:a16="http://schemas.microsoft.com/office/drawing/2014/main" id="{7573385B-D5BB-4EF0-900C-E51C0C3B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0" y="239077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Figure 2b. Route B weapon-space result.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236a457c248c6"/>
          <a:srcRect xmlns:a="http://schemas.openxmlformats.org/drawingml/2006/main" l="0" t="6507" r="0" b="65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36750" y="20478750"/>
            <a:ext cx="6572250" cy="3190875"/>
          </a:xfrm>
          <a:prstGeom xmlns:a="http://schemas.openxmlformats.org/drawingml/2006/main" prst="rect">
            <a:avLst/>
          </a:prstGeom>
        </p:spPr>
      </p:pic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ab0ec31774fcb"/>
          <a:stretch xmlns:a="http://schemas.openxmlformats.org/drawingml/2006/main"/>
        </p:blipFill>
        <p:spPr>
          <a:xfrm xmlns:a="http://schemas.openxmlformats.org/drawingml/2006/main">
            <a:off x="34194750" y="21331238"/>
            <a:ext cx="6858000" cy="1485900"/>
          </a:xfrm>
          <a:prstGeom xmlns:a="http://schemas.openxmlformats.org/drawingml/2006/main" prst="rect">
            <a:avLst/>
          </a:prstGeom>
        </p:spPr>
      </p:pic>
      <p:sp>
        <p:nvSpPr>
          <p:cNvPr id="76" name="live-source-cap">
            <a:extLst xmlns:a="http://schemas.openxmlformats.org/drawingml/2006/main">
              <a:ext uri="{FF2B5EF4-FFF2-40B4-BE49-F238E27FC236}">
                <a16:creationId xmlns:a16="http://schemas.microsoft.com/office/drawing/2014/main" id="{493A6B74-B8BE-45FE-82BD-6CBAF2A1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0" y="237172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Figure 3a. Human-selected Treasured Relic source.</a:t>
            </a:r>
          </a:p>
        </p:txBody>
      </p:sp>
      <p:sp>
        <p:nvSpPr>
          <p:cNvPr id="77" name="live-map-cap">
            <a:extLst xmlns:a="http://schemas.openxmlformats.org/drawingml/2006/main">
              <a:ext uri="{FF2B5EF4-FFF2-40B4-BE49-F238E27FC236}">
                <a16:creationId xmlns:a16="http://schemas.microsoft.com/office/drawing/2014/main" id="{47286EDC-0E97-432D-BD74-CC925BC1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23717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Figure 3b. Formal left/right/top mapped result.</a:t>
            </a:r>
          </a:p>
        </p:txBody>
      </p:sp>
      <p:sp>
        <p:nvSpPr>
          <p:cNvPr id="78" name="stats">
            <a:extLst xmlns:a="http://schemas.openxmlformats.org/drawingml/2006/main">
              <a:ext uri="{FF2B5EF4-FFF2-40B4-BE49-F238E27FC236}">
                <a16:creationId xmlns:a16="http://schemas.microsoft.com/office/drawing/2014/main" id="{D92C15B5-F290-4447-B5F7-1711F22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4765000"/>
            <a:ext cx="2724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8"/>
          </a:solidFill>
          <a:ln xmlns:a="http://schemas.openxmlformats.org/drawingml/2006/main" w="28575">
            <a:solidFill>
              <a:srgbClr val="17345D"/>
            </a:solidFill>
            <a:prstDash val="solid"/>
          </a:ln>
        </p:spPr>
      </p:sp>
      <p:sp>
        <p:nvSpPr>
          <p:cNvPr id="79" name="stats-text">
            <a:extLst xmlns:a="http://schemas.openxmlformats.org/drawingml/2006/main">
              <a:ext uri="{FF2B5EF4-FFF2-40B4-BE49-F238E27FC236}">
                <a16:creationId xmlns:a16="http://schemas.microsoft.com/office/drawing/2014/main" id="{E0C5937A-4E67-460C-AE7F-9D92A7DC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5146000"/>
            <a:ext cx="26479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Formal paired result: 99.77% mean seam reduction  |  +0.060 mean multi-view score  |  4/4 paired wins</a:t>
            </a:r>
          </a:p>
          <a:p xmlns:a="http://schemas.openxmlformats.org/drawingml/2006/main">
            <a:pPr algn="ctr">
              <a:defRPr sz="2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Live selected result: seam 0.00078  |  multi-view 0.8166  |  total score 0.8291  |  Route C rejected</a:t>
            </a:r>
          </a:p>
        </p:txBody>
      </p:sp>
      <p:sp>
        <p:nvSpPr>
          <p:cNvPr id="80" name="conclusion-frame">
            <a:extLst xmlns:a="http://schemas.openxmlformats.org/drawingml/2006/main">
              <a:ext uri="{FF2B5EF4-FFF2-40B4-BE49-F238E27FC236}">
                <a16:creationId xmlns:a16="http://schemas.microsoft.com/office/drawing/2014/main" id="{CED9E9C6-8F67-447A-82BE-845ECEEE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60625"/>
            <a:ext cx="41567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7345D"/>
            </a:solidFill>
            <a:prstDash val="solid"/>
          </a:ln>
        </p:spPr>
      </p:sp>
      <p:sp>
        <p:nvSpPr>
          <p:cNvPr id="81" name="conclusion-tab">
            <a:extLst xmlns:a="http://schemas.openxmlformats.org/drawingml/2006/main">
              <a:ext uri="{FF2B5EF4-FFF2-40B4-BE49-F238E27FC236}">
                <a16:creationId xmlns:a16="http://schemas.microsoft.com/office/drawing/2014/main" id="{D98DFC27-2AA9-4D32-8BD4-3C7F34F4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60625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9E"/>
          </a:solidFill>
          <a:ln xmlns:a="http://schemas.openxmlformats.org/drawingml/2006/main" w="28575">
            <a:solidFill>
              <a:srgbClr val="17345D"/>
            </a:solidFill>
            <a:prstDash val="solid"/>
          </a:ln>
        </p:spPr>
      </p:sp>
      <p:sp>
        <p:nvSpPr>
          <p:cNvPr id="8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C2A65DAA-0A6E-4F0F-BA8F-064C06DE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936825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83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A9560566-554C-4CDB-87EC-BE49FF86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0"/>
            <a:ext cx="4080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SkinSmith shows that a generated rectangle is not a valid asset until it is mapped, inspected from multiple views, and tested against deployment constraints. The project contributes asset-aware weapon-space generation, mapped-view human selection, and bounded refinement with safe rollback. AK-47 is the complete case; M4A4 demonstrates adapter transfer rather than universal parameter portability.</a:t>
            </a:r>
          </a:p>
        </p:txBody>
      </p:sp>
    </p:spTree>
    <p:extLst>
      <p:ext uri="{BB962C8B-B14F-4D97-AF65-F5344CB8AC3E}">
        <p14:creationId xmlns:p14="http://schemas.microsoft.com/office/powerpoint/2010/main" val="186041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2026-07-16T16:43:40.7170000Z</dcterms:created>
  <dcterms:modified xsi:type="dcterms:W3CDTF">2026-07-16T16:43:40.7170000Z</dcterms:modified>
</coreProperties>
</file>